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024"/>
    <a:srgbClr val="40723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1" d="100"/>
          <a:sy n="121" d="100"/>
        </p:scale>
        <p:origin x="34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937164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1D6544-B122-D8B2-F808-3CB8F2243C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4A5D5A-0FB1-4E1B-E6D5-7A9F647907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3B40E5-92AF-4C7E-5FDA-9F893929BC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CAA3F1-2456-C7F3-E6F5-F3C43CB1C3F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60436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374904" y="440227"/>
            <a:ext cx="8394192" cy="1285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125"/>
              </a:lnSpc>
              <a:buNone/>
            </a:pPr>
            <a:r>
              <a:rPr lang="en-US" sz="6750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📦</a:t>
            </a:r>
            <a:endParaRPr lang="en-US" sz="6750" dirty="0"/>
          </a:p>
        </p:txBody>
      </p:sp>
      <p:sp>
        <p:nvSpPr>
          <p:cNvPr id="6" name="Text 4"/>
          <p:cNvSpPr/>
          <p:nvPr/>
        </p:nvSpPr>
        <p:spPr>
          <a:xfrm>
            <a:off x="457200" y="1787632"/>
            <a:ext cx="8229600" cy="14082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544"/>
              </a:lnSpc>
              <a:buNone/>
            </a:pPr>
            <a:r>
              <a:rPr lang="en-US" sz="5040" b="1" dirty="0">
                <a:solidFill>
                  <a:srgbClr val="E6EDF3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Supply Chain</a:t>
            </a:r>
            <a:endParaRPr lang="en-US" sz="5040" dirty="0"/>
          </a:p>
          <a:p>
            <a:pPr marL="0" indent="0" algn="ctr">
              <a:lnSpc>
                <a:spcPts val="5544"/>
              </a:lnSpc>
              <a:buNone/>
            </a:pPr>
            <a:r>
              <a:rPr lang="en-US" sz="5040" b="1" dirty="0">
                <a:solidFill>
                  <a:srgbClr val="E6EDF3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Diagnostic Report</a:t>
            </a:r>
            <a:endParaRPr lang="en-US" sz="5040" dirty="0"/>
          </a:p>
        </p:txBody>
      </p:sp>
      <p:sp>
        <p:nvSpPr>
          <p:cNvPr id="7" name="Text 5"/>
          <p:cNvSpPr/>
          <p:nvPr/>
        </p:nvSpPr>
        <p:spPr>
          <a:xfrm>
            <a:off x="374904" y="3602682"/>
            <a:ext cx="8394192" cy="2058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20"/>
              </a:lnSpc>
              <a:buNone/>
            </a:pPr>
            <a:endParaRPr lang="en-US" sz="108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0A71AA2-A4B3-C532-9204-1DB3CD2DE132}"/>
              </a:ext>
            </a:extLst>
          </p:cNvPr>
          <p:cNvSpPr txBox="1"/>
          <p:nvPr/>
        </p:nvSpPr>
        <p:spPr>
          <a:xfrm>
            <a:off x="327922" y="3424270"/>
            <a:ext cx="2787343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solidFill>
                  <a:schemeClr val="bg1"/>
                </a:solidFill>
              </a:rPr>
              <a:t>Batch Id :PTID-CDA-FEB-26-1285</a:t>
            </a:r>
          </a:p>
          <a:p>
            <a:r>
              <a:rPr lang="en-IN" sz="1400" dirty="0" err="1">
                <a:solidFill>
                  <a:schemeClr val="bg1"/>
                </a:solidFill>
              </a:rPr>
              <a:t>Kaicharla</a:t>
            </a:r>
            <a:r>
              <a:rPr lang="en-IN" sz="1400" dirty="0">
                <a:solidFill>
                  <a:schemeClr val="bg1"/>
                </a:solidFill>
              </a:rPr>
              <a:t> Lalith Kumar</a:t>
            </a:r>
          </a:p>
          <a:p>
            <a:r>
              <a:rPr lang="en-IN" sz="1400" dirty="0" err="1">
                <a:solidFill>
                  <a:schemeClr val="bg1"/>
                </a:solidFill>
              </a:rPr>
              <a:t>Bollam</a:t>
            </a:r>
            <a:r>
              <a:rPr lang="en-IN" sz="1400" dirty="0">
                <a:solidFill>
                  <a:schemeClr val="bg1"/>
                </a:solidFill>
              </a:rPr>
              <a:t> Sai Lavanya</a:t>
            </a:r>
          </a:p>
          <a:p>
            <a:r>
              <a:rPr lang="en-IN" sz="1400" dirty="0" err="1">
                <a:solidFill>
                  <a:schemeClr val="bg1"/>
                </a:solidFill>
              </a:rPr>
              <a:t>Nagadurga</a:t>
            </a:r>
            <a:r>
              <a:rPr lang="en-IN" sz="1400" dirty="0">
                <a:solidFill>
                  <a:schemeClr val="bg1"/>
                </a:solidFill>
              </a:rPr>
              <a:t> Jahnavi</a:t>
            </a:r>
          </a:p>
          <a:p>
            <a:r>
              <a:rPr lang="en-IN" sz="1400" dirty="0" err="1">
                <a:solidFill>
                  <a:schemeClr val="bg1"/>
                </a:solidFill>
              </a:rPr>
              <a:t>Mavuluri</a:t>
            </a:r>
            <a:r>
              <a:rPr lang="en-IN" sz="1400" dirty="0">
                <a:solidFill>
                  <a:schemeClr val="bg1"/>
                </a:solidFill>
              </a:rPr>
              <a:t> Rajendra Kumar</a:t>
            </a:r>
            <a:endParaRPr lang="en-IN" sz="1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DC732D7-4F6D-BC3E-4FD0-63FAB05027F9}"/>
              </a:ext>
            </a:extLst>
          </p:cNvPr>
          <p:cNvSpPr txBox="1"/>
          <p:nvPr/>
        </p:nvSpPr>
        <p:spPr>
          <a:xfrm>
            <a:off x="6818744" y="3002280"/>
            <a:ext cx="27873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solidFill>
                  <a:schemeClr val="bg1"/>
                </a:solidFill>
              </a:rPr>
              <a:t>(CDACL-003)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405533"/>
            <a:ext cx="2641550" cy="1526679"/>
          </a:xfrm>
          <a:prstGeom prst="roundRect">
            <a:avLst>
              <a:gd name="adj" fmla="val 83853"/>
            </a:avLst>
          </a:prstGeom>
          <a:solidFill>
            <a:srgbClr val="1A1A2E">
              <a:alpha val="80000"/>
            </a:srgbClr>
          </a:solidFill>
          <a:ln w="6350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251150" y="1405533"/>
            <a:ext cx="2641550" cy="1526679"/>
          </a:xfrm>
          <a:prstGeom prst="roundRect">
            <a:avLst>
              <a:gd name="adj" fmla="val 83853"/>
            </a:avLst>
          </a:prstGeom>
          <a:solidFill>
            <a:srgbClr val="1A1A2E">
              <a:alpha val="80000"/>
            </a:srgbClr>
          </a:solidFill>
          <a:ln w="6350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45101" y="1405533"/>
            <a:ext cx="2641699" cy="1526679"/>
          </a:xfrm>
          <a:prstGeom prst="roundRect">
            <a:avLst>
              <a:gd name="adj" fmla="val 83853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EF4444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57200" y="3114973"/>
            <a:ext cx="2641550" cy="1704975"/>
          </a:xfrm>
          <a:prstGeom prst="roundRect">
            <a:avLst>
              <a:gd name="adj" fmla="val 75084"/>
            </a:avLst>
          </a:prstGeom>
          <a:solidFill>
            <a:srgbClr val="1A1A2E">
              <a:alpha val="80000"/>
            </a:srgbClr>
          </a:solidFill>
          <a:ln w="6350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251150" y="3114973"/>
            <a:ext cx="2641550" cy="1704975"/>
          </a:xfrm>
          <a:prstGeom prst="roundRect">
            <a:avLst>
              <a:gd name="adj" fmla="val 75084"/>
            </a:avLst>
          </a:prstGeom>
          <a:solidFill>
            <a:srgbClr val="1A1A2E">
              <a:alpha val="80000"/>
            </a:srgbClr>
          </a:solidFill>
          <a:ln w="6350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045101" y="3114973"/>
            <a:ext cx="2641699" cy="1704975"/>
          </a:xfrm>
          <a:prstGeom prst="roundRect">
            <a:avLst>
              <a:gd name="adj" fmla="val 75084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9A825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57200" y="323701"/>
            <a:ext cx="8394192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40"/>
              </a:lnSpc>
              <a:buNone/>
            </a:pPr>
            <a:endParaRPr lang="en-US" sz="960" dirty="0"/>
          </a:p>
        </p:txBody>
      </p:sp>
      <p:sp>
        <p:nvSpPr>
          <p:cNvPr id="9" name="Text 7"/>
          <p:cNvSpPr/>
          <p:nvPr/>
        </p:nvSpPr>
        <p:spPr>
          <a:xfrm>
            <a:off x="457200" y="582662"/>
            <a:ext cx="8394192" cy="59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680"/>
              </a:lnSpc>
              <a:buNone/>
            </a:pPr>
            <a:r>
              <a:rPr lang="en-US" sz="3120" dirty="0">
                <a:solidFill>
                  <a:srgbClr val="E6EDF3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Key Performance Metrics</a:t>
            </a:r>
            <a:endParaRPr lang="en-US" sz="3120" dirty="0"/>
          </a:p>
        </p:txBody>
      </p:sp>
      <p:sp>
        <p:nvSpPr>
          <p:cNvPr id="10" name="Text 8"/>
          <p:cNvSpPr/>
          <p:nvPr/>
        </p:nvSpPr>
        <p:spPr>
          <a:xfrm>
            <a:off x="617201" y="1588294"/>
            <a:ext cx="232154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400"/>
              </a:lnSpc>
              <a:buNone/>
            </a:pPr>
            <a:r>
              <a:rPr lang="en-US" sz="3600" b="1" dirty="0">
                <a:solidFill>
                  <a:srgbClr val="E6EDF3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₹578K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617201" y="2319784"/>
            <a:ext cx="232154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Total Revenue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17201" y="2552105"/>
            <a:ext cx="2321549" cy="178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04"/>
              </a:lnSpc>
              <a:buNone/>
            </a:pPr>
            <a:r>
              <a:rPr lang="en-US" sz="936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Skincare leads at ~₹240K</a:t>
            </a:r>
            <a:endParaRPr lang="en-US" sz="936" dirty="0"/>
          </a:p>
        </p:txBody>
      </p:sp>
      <p:sp>
        <p:nvSpPr>
          <p:cNvPr id="13" name="Text 11"/>
          <p:cNvSpPr/>
          <p:nvPr/>
        </p:nvSpPr>
        <p:spPr>
          <a:xfrm>
            <a:off x="3411151" y="1588294"/>
            <a:ext cx="232154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400"/>
              </a:lnSpc>
              <a:buNone/>
            </a:pPr>
            <a:r>
              <a:rPr lang="en-US" sz="3600" b="1" dirty="0">
                <a:solidFill>
                  <a:srgbClr val="E6EDF3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46K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3411151" y="2319784"/>
            <a:ext cx="232154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Units Sold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411151" y="2552105"/>
            <a:ext cx="2321549" cy="178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04"/>
              </a:lnSpc>
              <a:buNone/>
            </a:pPr>
            <a:r>
              <a:rPr lang="en-US" sz="936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Skincare: 20K · Haircare: 13K</a:t>
            </a:r>
            <a:endParaRPr lang="en-US" sz="936" dirty="0"/>
          </a:p>
        </p:txBody>
      </p:sp>
      <p:sp>
        <p:nvSpPr>
          <p:cNvPr id="16" name="Text 14"/>
          <p:cNvSpPr/>
          <p:nvPr/>
        </p:nvSpPr>
        <p:spPr>
          <a:xfrm>
            <a:off x="6214815" y="1597819"/>
            <a:ext cx="230227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400"/>
              </a:lnSpc>
              <a:buNone/>
            </a:pPr>
            <a:r>
              <a:rPr lang="en-US" sz="3600" b="1" dirty="0">
                <a:solidFill>
                  <a:srgbClr val="F87171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2.28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6214815" y="2329309"/>
            <a:ext cx="230227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Avg Defect Rate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214815" y="2561630"/>
            <a:ext cx="2302270" cy="178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04"/>
              </a:lnSpc>
              <a:buNone/>
            </a:pPr>
            <a:r>
              <a:rPr lang="en-US" sz="936" dirty="0">
                <a:solidFill>
                  <a:srgbClr val="F8717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⚠ Haircare highest at 2.65</a:t>
            </a:r>
            <a:endParaRPr lang="en-US" sz="936" dirty="0"/>
          </a:p>
        </p:txBody>
      </p:sp>
      <p:sp>
        <p:nvSpPr>
          <p:cNvPr id="19" name="Text 17"/>
          <p:cNvSpPr/>
          <p:nvPr/>
        </p:nvSpPr>
        <p:spPr>
          <a:xfrm>
            <a:off x="617201" y="3297734"/>
            <a:ext cx="232154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400"/>
              </a:lnSpc>
              <a:buNone/>
            </a:pPr>
            <a:r>
              <a:rPr lang="en-US" sz="3600" b="1" dirty="0">
                <a:solidFill>
                  <a:srgbClr val="E6EDF3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₹5.5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617201" y="4029224"/>
            <a:ext cx="232154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Avg Shipping Cost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17201" y="4261545"/>
            <a:ext cx="2321549" cy="178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04"/>
              </a:lnSpc>
              <a:buNone/>
            </a:pPr>
            <a:r>
              <a:rPr lang="en-US" sz="936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Air highest · Sea lowest</a:t>
            </a:r>
            <a:endParaRPr lang="en-US" sz="936" dirty="0"/>
          </a:p>
        </p:txBody>
      </p:sp>
      <p:sp>
        <p:nvSpPr>
          <p:cNvPr id="22" name="Text 20"/>
          <p:cNvSpPr/>
          <p:nvPr/>
        </p:nvSpPr>
        <p:spPr>
          <a:xfrm>
            <a:off x="3411151" y="3297734"/>
            <a:ext cx="232154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400"/>
              </a:lnSpc>
              <a:buNone/>
            </a:pPr>
            <a:r>
              <a:rPr lang="en-US" sz="3600" b="1" dirty="0">
                <a:solidFill>
                  <a:srgbClr val="E6EDF3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₹47.3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3411151" y="4029224"/>
            <a:ext cx="232154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Avg Mfg Cost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411151" y="4261545"/>
            <a:ext cx="2321549" cy="178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04"/>
              </a:lnSpc>
              <a:buNone/>
            </a:pPr>
            <a:r>
              <a:rPr lang="en-US" sz="936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Mumbai lowest at ₹9.5/unit</a:t>
            </a:r>
            <a:endParaRPr lang="en-US" sz="936" dirty="0"/>
          </a:p>
        </p:txBody>
      </p:sp>
      <p:sp>
        <p:nvSpPr>
          <p:cNvPr id="25" name="Text 23"/>
          <p:cNvSpPr/>
          <p:nvPr/>
        </p:nvSpPr>
        <p:spPr>
          <a:xfrm>
            <a:off x="6214815" y="3307259"/>
            <a:ext cx="230227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400"/>
              </a:lnSpc>
              <a:buNone/>
            </a:pPr>
            <a:r>
              <a:rPr lang="en-US" sz="3600" b="1" dirty="0">
                <a:solidFill>
                  <a:srgbClr val="E6EDF3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16</a:t>
            </a:r>
            <a:endParaRPr lang="en-US" sz="3600" dirty="0"/>
          </a:p>
        </p:txBody>
      </p:sp>
      <p:sp>
        <p:nvSpPr>
          <p:cNvPr id="26" name="Text 24"/>
          <p:cNvSpPr/>
          <p:nvPr/>
        </p:nvSpPr>
        <p:spPr>
          <a:xfrm>
            <a:off x="6214815" y="4038749"/>
            <a:ext cx="230227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Avg Lead Time (days)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237387" y="4271070"/>
            <a:ext cx="2257127" cy="356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04"/>
              </a:lnSpc>
              <a:buNone/>
            </a:pPr>
            <a:r>
              <a:rPr lang="en-US" sz="936" dirty="0">
                <a:solidFill>
                  <a:srgbClr val="FBBF24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⚠ Supplier 1 highest: 504 days cumulative</a:t>
            </a:r>
            <a:endParaRPr lang="en-US" sz="936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46979" y="1209822"/>
            <a:ext cx="4347939" cy="3353397"/>
          </a:xfrm>
          <a:prstGeom prst="roundRect">
            <a:avLst>
              <a:gd name="adj" fmla="val 40581"/>
            </a:avLst>
          </a:prstGeom>
          <a:solidFill>
            <a:srgbClr val="1A1A2E">
              <a:alpha val="80000"/>
            </a:srgbClr>
          </a:solidFill>
          <a:ln w="6350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654296" y="1251123"/>
            <a:ext cx="4216969" cy="3367832"/>
          </a:xfrm>
          <a:prstGeom prst="roundRect">
            <a:avLst>
              <a:gd name="adj" fmla="val 40581"/>
            </a:avLst>
          </a:prstGeom>
          <a:solidFill>
            <a:srgbClr val="1A1A2E">
              <a:alpha val="80000"/>
            </a:srgbClr>
          </a:solidFill>
          <a:ln w="6350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884390" y="2049512"/>
            <a:ext cx="3604320" cy="325487"/>
          </a:xfrm>
          <a:prstGeom prst="roundRect">
            <a:avLst>
              <a:gd name="adj" fmla="val 224746"/>
            </a:avLst>
          </a:prstGeom>
          <a:solidFill>
            <a:srgbClr val="1E88E5">
              <a:alpha val="8000"/>
            </a:srgbClr>
          </a:solidFill>
          <a:ln/>
        </p:spPr>
        <p:txBody>
          <a:bodyPr wrap="non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884390" y="2473970"/>
            <a:ext cx="3604320" cy="325487"/>
          </a:xfrm>
          <a:prstGeom prst="roundRect">
            <a:avLst>
              <a:gd name="adj" fmla="val 224746"/>
            </a:avLst>
          </a:prstGeom>
          <a:solidFill>
            <a:srgbClr val="00BCD4">
              <a:alpha val="8000"/>
            </a:srgbClr>
          </a:solidFill>
          <a:ln/>
        </p:spPr>
        <p:txBody>
          <a:bodyPr wrap="non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884390" y="2898428"/>
            <a:ext cx="3604320" cy="325487"/>
          </a:xfrm>
          <a:prstGeom prst="roundRect">
            <a:avLst>
              <a:gd name="adj" fmla="val 224746"/>
            </a:avLst>
          </a:prstGeom>
          <a:solidFill>
            <a:srgbClr val="F9A825">
              <a:alpha val="8000"/>
            </a:srgbClr>
          </a:solidFill>
          <a:ln/>
        </p:spPr>
        <p:txBody>
          <a:bodyPr wrap="non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884390" y="3322886"/>
            <a:ext cx="3604320" cy="325487"/>
          </a:xfrm>
          <a:prstGeom prst="roundRect">
            <a:avLst>
              <a:gd name="adj" fmla="val 224746"/>
            </a:avLst>
          </a:prstGeom>
          <a:solidFill>
            <a:srgbClr val="FFFFFF">
              <a:alpha val="4000"/>
            </a:srgbClr>
          </a:solidFill>
          <a:ln/>
        </p:spPr>
        <p:txBody>
          <a:bodyPr wrap="non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884390" y="3747343"/>
            <a:ext cx="3604320" cy="325487"/>
          </a:xfrm>
          <a:prstGeom prst="roundRect">
            <a:avLst>
              <a:gd name="adj" fmla="val 224746"/>
            </a:avLst>
          </a:prstGeom>
          <a:solidFill>
            <a:srgbClr val="FFFFFF">
              <a:alpha val="4000"/>
            </a:srgbClr>
          </a:solidFill>
          <a:ln/>
        </p:spPr>
        <p:txBody>
          <a:bodyPr wrap="non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57200" y="472529"/>
            <a:ext cx="8394192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40"/>
              </a:lnSpc>
              <a:buNone/>
            </a:pPr>
            <a:r>
              <a:rPr lang="en-US" sz="960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Revenue Analysis</a:t>
            </a:r>
            <a:endParaRPr lang="en-US" sz="960" dirty="0"/>
          </a:p>
        </p:txBody>
      </p:sp>
      <p:sp>
        <p:nvSpPr>
          <p:cNvPr id="13" name="Text 11"/>
          <p:cNvSpPr/>
          <p:nvPr/>
        </p:nvSpPr>
        <p:spPr>
          <a:xfrm>
            <a:off x="457200" y="597546"/>
            <a:ext cx="8394192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500"/>
              </a:lnSpc>
              <a:buNone/>
            </a:pPr>
            <a:r>
              <a:rPr lang="en-US" sz="3000" dirty="0">
                <a:solidFill>
                  <a:srgbClr val="E6EDF3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Revenue by Product Type &amp; Supplier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55290" y="1714351"/>
            <a:ext cx="3676406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40"/>
              </a:lnSpc>
              <a:buNone/>
            </a:pPr>
            <a:r>
              <a:rPr lang="en-US" sz="960" b="1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Revenue by Product</a:t>
            </a:r>
            <a:endParaRPr lang="en-US" sz="960" dirty="0"/>
          </a:p>
        </p:txBody>
      </p:sp>
      <p:sp>
        <p:nvSpPr>
          <p:cNvPr id="15" name="Text 13"/>
          <p:cNvSpPr/>
          <p:nvPr/>
        </p:nvSpPr>
        <p:spPr>
          <a:xfrm>
            <a:off x="655290" y="2049512"/>
            <a:ext cx="546800" cy="187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76"/>
              </a:lnSpc>
              <a:buNone/>
            </a:pPr>
            <a:r>
              <a:rPr lang="en-US" sz="984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Skincare</a:t>
            </a:r>
            <a:endParaRPr lang="en-US" sz="984" dirty="0"/>
          </a:p>
        </p:txBody>
      </p:sp>
      <p:sp>
        <p:nvSpPr>
          <p:cNvPr id="16" name="Text 14"/>
          <p:cNvSpPr/>
          <p:nvPr/>
        </p:nvSpPr>
        <p:spPr>
          <a:xfrm>
            <a:off x="3340596" y="2049512"/>
            <a:ext cx="937394" cy="187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76"/>
              </a:lnSpc>
              <a:buNone/>
            </a:pPr>
            <a:r>
              <a:rPr lang="en-US" sz="984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₹242K (41%)</a:t>
            </a:r>
            <a:endParaRPr lang="en-US" sz="984" dirty="0"/>
          </a:p>
        </p:txBody>
      </p:sp>
      <p:sp>
        <p:nvSpPr>
          <p:cNvPr id="17" name="Text 15"/>
          <p:cNvSpPr/>
          <p:nvPr/>
        </p:nvSpPr>
        <p:spPr>
          <a:xfrm>
            <a:off x="655290" y="2492276"/>
            <a:ext cx="534808" cy="187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76"/>
              </a:lnSpc>
              <a:buNone/>
            </a:pPr>
            <a:r>
              <a:rPr lang="en-US" sz="984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Haircare</a:t>
            </a:r>
            <a:endParaRPr lang="en-US" sz="984" dirty="0"/>
          </a:p>
        </p:txBody>
      </p:sp>
      <p:sp>
        <p:nvSpPr>
          <p:cNvPr id="18" name="Text 16"/>
          <p:cNvSpPr/>
          <p:nvPr/>
        </p:nvSpPr>
        <p:spPr>
          <a:xfrm>
            <a:off x="3340596" y="2492276"/>
            <a:ext cx="937394" cy="187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76"/>
              </a:lnSpc>
              <a:buNone/>
            </a:pPr>
            <a:r>
              <a:rPr lang="en-US" sz="984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₹174K (31%)</a:t>
            </a:r>
            <a:endParaRPr lang="en-US" sz="984" dirty="0"/>
          </a:p>
        </p:txBody>
      </p:sp>
      <p:sp>
        <p:nvSpPr>
          <p:cNvPr id="19" name="Text 17"/>
          <p:cNvSpPr/>
          <p:nvPr/>
        </p:nvSpPr>
        <p:spPr>
          <a:xfrm>
            <a:off x="655290" y="2935039"/>
            <a:ext cx="657466" cy="187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76"/>
              </a:lnSpc>
              <a:buNone/>
            </a:pPr>
            <a:r>
              <a:rPr lang="en-US" sz="984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Cosmetics</a:t>
            </a:r>
            <a:endParaRPr lang="en-US" sz="984" dirty="0"/>
          </a:p>
        </p:txBody>
      </p:sp>
      <p:sp>
        <p:nvSpPr>
          <p:cNvPr id="20" name="Text 18"/>
          <p:cNvSpPr/>
          <p:nvPr/>
        </p:nvSpPr>
        <p:spPr>
          <a:xfrm>
            <a:off x="3340596" y="2935039"/>
            <a:ext cx="937394" cy="187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76"/>
              </a:lnSpc>
              <a:buNone/>
            </a:pPr>
            <a:r>
              <a:rPr lang="en-US" sz="984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₹162K (27%)</a:t>
            </a:r>
            <a:endParaRPr lang="en-US" sz="984" dirty="0"/>
          </a:p>
        </p:txBody>
      </p:sp>
      <p:sp>
        <p:nvSpPr>
          <p:cNvPr id="21" name="Text 19"/>
          <p:cNvSpPr/>
          <p:nvPr/>
        </p:nvSpPr>
        <p:spPr>
          <a:xfrm>
            <a:off x="655290" y="3408313"/>
            <a:ext cx="3604320" cy="449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5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📌 Skincare generates highest revenue — largest volume driver (20K units sold)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082077" y="1739726"/>
            <a:ext cx="3676406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40"/>
              </a:lnSpc>
              <a:buNone/>
            </a:pPr>
            <a:r>
              <a:rPr lang="en-US" sz="960" b="1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Supplier Revenue Forecast (What-If)</a:t>
            </a:r>
            <a:endParaRPr lang="en-US" sz="960" dirty="0"/>
          </a:p>
        </p:txBody>
      </p:sp>
      <p:sp>
        <p:nvSpPr>
          <p:cNvPr id="23" name="Text 21"/>
          <p:cNvSpPr/>
          <p:nvPr/>
        </p:nvSpPr>
        <p:spPr>
          <a:xfrm>
            <a:off x="4975771" y="2120801"/>
            <a:ext cx="630900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40"/>
              </a:lnSpc>
              <a:buNone/>
            </a:pPr>
            <a:r>
              <a:rPr lang="en-US" sz="960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Supplier 1</a:t>
            </a:r>
            <a:endParaRPr lang="en-US" sz="960" dirty="0"/>
          </a:p>
        </p:txBody>
      </p:sp>
      <p:sp>
        <p:nvSpPr>
          <p:cNvPr id="24" name="Text 22"/>
          <p:cNvSpPr/>
          <p:nvPr/>
        </p:nvSpPr>
        <p:spPr>
          <a:xfrm>
            <a:off x="7216241" y="2137023"/>
            <a:ext cx="57625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440"/>
              </a:lnSpc>
              <a:buNone/>
            </a:pPr>
            <a:r>
              <a:rPr lang="en-US" sz="960" b="1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₹157.5K</a:t>
            </a:r>
            <a:endParaRPr lang="en-US" sz="960" dirty="0"/>
          </a:p>
        </p:txBody>
      </p:sp>
      <p:sp>
        <p:nvSpPr>
          <p:cNvPr id="25" name="Text 23"/>
          <p:cNvSpPr/>
          <p:nvPr/>
        </p:nvSpPr>
        <p:spPr>
          <a:xfrm>
            <a:off x="7820016" y="2156073"/>
            <a:ext cx="57731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260"/>
              </a:lnSpc>
              <a:buNone/>
            </a:pPr>
            <a:r>
              <a:rPr lang="en-US" sz="840" dirty="0">
                <a:solidFill>
                  <a:srgbClr val="4ADE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→ ₹163.2K</a:t>
            </a:r>
            <a:endParaRPr lang="en-US" sz="840" dirty="0"/>
          </a:p>
        </p:txBody>
      </p:sp>
      <p:sp>
        <p:nvSpPr>
          <p:cNvPr id="26" name="Text 24"/>
          <p:cNvSpPr/>
          <p:nvPr/>
        </p:nvSpPr>
        <p:spPr>
          <a:xfrm>
            <a:off x="4975771" y="2545259"/>
            <a:ext cx="630900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40"/>
              </a:lnSpc>
              <a:buNone/>
            </a:pPr>
            <a:r>
              <a:rPr lang="en-US" sz="960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Supplier 2</a:t>
            </a:r>
            <a:endParaRPr lang="en-US" sz="960" dirty="0"/>
          </a:p>
        </p:txBody>
      </p:sp>
      <p:sp>
        <p:nvSpPr>
          <p:cNvPr id="27" name="Text 25"/>
          <p:cNvSpPr/>
          <p:nvPr/>
        </p:nvSpPr>
        <p:spPr>
          <a:xfrm>
            <a:off x="7216241" y="2561481"/>
            <a:ext cx="57625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440"/>
              </a:lnSpc>
              <a:buNone/>
            </a:pPr>
            <a:r>
              <a:rPr lang="en-US" sz="960" b="1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₹125.5K</a:t>
            </a:r>
            <a:endParaRPr lang="en-US" sz="960" dirty="0"/>
          </a:p>
        </p:txBody>
      </p:sp>
      <p:sp>
        <p:nvSpPr>
          <p:cNvPr id="28" name="Text 26"/>
          <p:cNvSpPr/>
          <p:nvPr/>
        </p:nvSpPr>
        <p:spPr>
          <a:xfrm>
            <a:off x="7820016" y="2580531"/>
            <a:ext cx="57731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260"/>
              </a:lnSpc>
              <a:buNone/>
            </a:pPr>
            <a:r>
              <a:rPr lang="en-US" sz="840" dirty="0">
                <a:solidFill>
                  <a:srgbClr val="4ADE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→ ₹131.4K</a:t>
            </a:r>
            <a:endParaRPr lang="en-US" sz="840" dirty="0"/>
          </a:p>
        </p:txBody>
      </p:sp>
      <p:sp>
        <p:nvSpPr>
          <p:cNvPr id="29" name="Text 27"/>
          <p:cNvSpPr/>
          <p:nvPr/>
        </p:nvSpPr>
        <p:spPr>
          <a:xfrm>
            <a:off x="4975771" y="2969716"/>
            <a:ext cx="630900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40"/>
              </a:lnSpc>
              <a:buNone/>
            </a:pPr>
            <a:r>
              <a:rPr lang="en-US" sz="960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Supplier 5</a:t>
            </a:r>
            <a:endParaRPr lang="en-US" sz="960" dirty="0"/>
          </a:p>
        </p:txBody>
      </p:sp>
      <p:sp>
        <p:nvSpPr>
          <p:cNvPr id="30" name="Text 28"/>
          <p:cNvSpPr/>
          <p:nvPr/>
        </p:nvSpPr>
        <p:spPr>
          <a:xfrm>
            <a:off x="7216241" y="2985939"/>
            <a:ext cx="57625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440"/>
              </a:lnSpc>
              <a:buNone/>
            </a:pPr>
            <a:r>
              <a:rPr lang="en-US" sz="960" b="1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₹110.3K</a:t>
            </a:r>
            <a:endParaRPr lang="en-US" sz="960" dirty="0"/>
          </a:p>
        </p:txBody>
      </p:sp>
      <p:sp>
        <p:nvSpPr>
          <p:cNvPr id="31" name="Text 29"/>
          <p:cNvSpPr/>
          <p:nvPr/>
        </p:nvSpPr>
        <p:spPr>
          <a:xfrm>
            <a:off x="7820016" y="3004989"/>
            <a:ext cx="57731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260"/>
              </a:lnSpc>
              <a:buNone/>
            </a:pPr>
            <a:r>
              <a:rPr lang="en-US" sz="840" dirty="0">
                <a:solidFill>
                  <a:srgbClr val="4ADE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→ ₹116.2K</a:t>
            </a:r>
            <a:endParaRPr lang="en-US" sz="840" dirty="0"/>
          </a:p>
        </p:txBody>
      </p:sp>
      <p:sp>
        <p:nvSpPr>
          <p:cNvPr id="32" name="Text 30"/>
          <p:cNvSpPr/>
          <p:nvPr/>
        </p:nvSpPr>
        <p:spPr>
          <a:xfrm>
            <a:off x="4975771" y="3394174"/>
            <a:ext cx="630900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40"/>
              </a:lnSpc>
              <a:buNone/>
            </a:pPr>
            <a:r>
              <a:rPr lang="en-US" sz="960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Supplier 3</a:t>
            </a:r>
            <a:endParaRPr lang="en-US" sz="960" dirty="0"/>
          </a:p>
        </p:txBody>
      </p:sp>
      <p:sp>
        <p:nvSpPr>
          <p:cNvPr id="33" name="Text 31"/>
          <p:cNvSpPr/>
          <p:nvPr/>
        </p:nvSpPr>
        <p:spPr>
          <a:xfrm>
            <a:off x="7302770" y="3410396"/>
            <a:ext cx="48972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440"/>
              </a:lnSpc>
              <a:buNone/>
            </a:pPr>
            <a:r>
              <a:rPr lang="en-US" sz="960" b="1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₹97.8K</a:t>
            </a:r>
            <a:endParaRPr lang="en-US" sz="960" dirty="0"/>
          </a:p>
        </p:txBody>
      </p:sp>
      <p:sp>
        <p:nvSpPr>
          <p:cNvPr id="34" name="Text 32"/>
          <p:cNvSpPr/>
          <p:nvPr/>
        </p:nvSpPr>
        <p:spPr>
          <a:xfrm>
            <a:off x="7820016" y="3429446"/>
            <a:ext cx="57731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260"/>
              </a:lnSpc>
              <a:buNone/>
            </a:pPr>
            <a:r>
              <a:rPr lang="en-US" sz="840" dirty="0">
                <a:solidFill>
                  <a:srgbClr val="4ADE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→ ₹102.6K</a:t>
            </a:r>
            <a:endParaRPr lang="en-US" sz="840" dirty="0"/>
          </a:p>
        </p:txBody>
      </p:sp>
      <p:sp>
        <p:nvSpPr>
          <p:cNvPr id="35" name="Text 33"/>
          <p:cNvSpPr/>
          <p:nvPr/>
        </p:nvSpPr>
        <p:spPr>
          <a:xfrm>
            <a:off x="4975771" y="3818632"/>
            <a:ext cx="630900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40"/>
              </a:lnSpc>
              <a:buNone/>
            </a:pPr>
            <a:r>
              <a:rPr lang="en-US" sz="960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Supplier 4</a:t>
            </a:r>
            <a:endParaRPr lang="en-US" sz="960" dirty="0"/>
          </a:p>
        </p:txBody>
      </p:sp>
      <p:sp>
        <p:nvSpPr>
          <p:cNvPr id="36" name="Text 34"/>
          <p:cNvSpPr/>
          <p:nvPr/>
        </p:nvSpPr>
        <p:spPr>
          <a:xfrm>
            <a:off x="7370636" y="3834854"/>
            <a:ext cx="48972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440"/>
              </a:lnSpc>
              <a:buNone/>
            </a:pPr>
            <a:r>
              <a:rPr lang="en-US" sz="960" b="1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₹86.5K</a:t>
            </a:r>
            <a:endParaRPr lang="en-US" sz="960" dirty="0"/>
          </a:p>
        </p:txBody>
      </p:sp>
      <p:sp>
        <p:nvSpPr>
          <p:cNvPr id="37" name="Text 35"/>
          <p:cNvSpPr/>
          <p:nvPr/>
        </p:nvSpPr>
        <p:spPr>
          <a:xfrm>
            <a:off x="7889239" y="3853904"/>
            <a:ext cx="50809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260"/>
              </a:lnSpc>
              <a:buNone/>
            </a:pPr>
            <a:r>
              <a:rPr lang="en-US" sz="840" dirty="0">
                <a:solidFill>
                  <a:srgbClr val="4ADE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→ ₹90.5K</a:t>
            </a:r>
            <a:endParaRPr lang="en-US" sz="840" dirty="0"/>
          </a:p>
        </p:txBody>
      </p:sp>
      <p:sp>
        <p:nvSpPr>
          <p:cNvPr id="38" name="Text 36"/>
          <p:cNvSpPr/>
          <p:nvPr/>
        </p:nvSpPr>
        <p:spPr>
          <a:xfrm>
            <a:off x="5276845" y="4147770"/>
            <a:ext cx="3604320" cy="278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5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📌 Defect improvement unlocks +₹5.7K avg per supplier</a:t>
            </a:r>
            <a:endParaRPr lang="en-US" sz="900" dirty="0"/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91CA776E-8325-1580-3ABB-00F3DDF221CF}"/>
              </a:ext>
            </a:extLst>
          </p:cNvPr>
          <p:cNvSpPr/>
          <p:nvPr/>
        </p:nvSpPr>
        <p:spPr>
          <a:xfrm>
            <a:off x="655290" y="2303563"/>
            <a:ext cx="3330233" cy="111918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9B3D8EDC-1042-E69B-0C48-36B5D5764314}"/>
              </a:ext>
            </a:extLst>
          </p:cNvPr>
          <p:cNvSpPr/>
          <p:nvPr/>
        </p:nvSpPr>
        <p:spPr>
          <a:xfrm>
            <a:off x="655290" y="2728020"/>
            <a:ext cx="3330233" cy="104031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5C7B76B0-7ABA-C6F4-945A-65B7A1649233}"/>
              </a:ext>
            </a:extLst>
          </p:cNvPr>
          <p:cNvSpPr/>
          <p:nvPr/>
        </p:nvSpPr>
        <p:spPr>
          <a:xfrm>
            <a:off x="655290" y="3223915"/>
            <a:ext cx="3330233" cy="98971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372" y="1153551"/>
            <a:ext cx="4387918" cy="3806295"/>
          </a:xfrm>
          <a:prstGeom prst="roundRect">
            <a:avLst>
              <a:gd name="adj" fmla="val 34299"/>
            </a:avLst>
          </a:prstGeom>
          <a:solidFill>
            <a:srgbClr val="1A1A2E">
              <a:alpha val="80000"/>
            </a:srgbClr>
          </a:solidFill>
          <a:ln w="6350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15729" y="1181845"/>
            <a:ext cx="4171071" cy="1504651"/>
          </a:xfrm>
          <a:prstGeom prst="roundRect">
            <a:avLst>
              <a:gd name="adj" fmla="val 87745"/>
            </a:avLst>
          </a:prstGeom>
          <a:solidFill>
            <a:srgbClr val="EF4444">
              <a:alpha val="7000"/>
            </a:srgbClr>
          </a:solidFill>
          <a:ln w="9525">
            <a:solidFill>
              <a:srgbClr val="EF4444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572001" y="2814043"/>
            <a:ext cx="4114800" cy="1403002"/>
          </a:xfrm>
          <a:prstGeom prst="roundRect">
            <a:avLst>
              <a:gd name="adj" fmla="val 91868"/>
            </a:avLst>
          </a:prstGeom>
          <a:solidFill>
            <a:srgbClr val="1A1A2E">
              <a:alpha val="80000"/>
            </a:srgbClr>
          </a:solidFill>
          <a:ln w="6350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597144" y="4255294"/>
            <a:ext cx="4008239" cy="605730"/>
          </a:xfrm>
          <a:prstGeom prst="roundRect">
            <a:avLst>
              <a:gd name="adj" fmla="val 181150"/>
            </a:avLst>
          </a:prstGeom>
          <a:solidFill>
            <a:srgbClr val="F9A825">
              <a:alpha val="6000"/>
            </a:srgbClr>
          </a:solidFill>
          <a:ln w="9525">
            <a:solidFill>
              <a:srgbClr val="F9A825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5290" y="1760786"/>
          <a:ext cx="3611910" cy="2689029"/>
        </p:xfrm>
        <a:graphic>
          <a:graphicData uri="http://schemas.openxmlformats.org/drawingml/2006/table">
            <a:tbl>
              <a:tblPr/>
              <a:tblGrid>
                <a:gridCol w="7223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23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23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238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238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414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16" b="1" dirty="0">
                          <a:solidFill>
                            <a:srgbClr val="E6EDF3"/>
                          </a:solidFill>
                          <a:latin typeface="ui-sans-serif" pitchFamily="34" charset="0"/>
                          <a:ea typeface="ui-sans-serif" pitchFamily="34" charset="-122"/>
                          <a:cs typeface="ui-sans-serif" pitchFamily="34" charset="-120"/>
                        </a:rPr>
                        <a:t>Supplier</a:t>
                      </a:r>
                      <a:endParaRPr lang="en-US" sz="816" dirty="0">
                        <a:latin typeface="ui-sans-serif" charset="0"/>
                        <a:ea typeface="ui-sans-serif" charset="0"/>
                        <a:cs typeface="ui-sans-serif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16" b="1" dirty="0">
                          <a:solidFill>
                            <a:srgbClr val="E6EDF3"/>
                          </a:solidFill>
                          <a:latin typeface="ui-sans-serif" pitchFamily="34" charset="0"/>
                          <a:ea typeface="ui-sans-serif" pitchFamily="34" charset="-122"/>
                          <a:cs typeface="ui-sans-serif" pitchFamily="34" charset="-120"/>
                        </a:rPr>
                        <a:t>Cosmetics</a:t>
                      </a:r>
                      <a:endParaRPr lang="en-US" sz="816" dirty="0">
                        <a:latin typeface="ui-sans-serif" charset="0"/>
                        <a:ea typeface="ui-sans-serif" charset="0"/>
                        <a:cs typeface="ui-sans-serif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16" b="1" dirty="0">
                          <a:solidFill>
                            <a:srgbClr val="E6EDF3"/>
                          </a:solidFill>
                          <a:latin typeface="ui-sans-serif" pitchFamily="34" charset="0"/>
                          <a:ea typeface="ui-sans-serif" pitchFamily="34" charset="-122"/>
                          <a:cs typeface="ui-sans-serif" pitchFamily="34" charset="-120"/>
                        </a:rPr>
                        <a:t>Haircare</a:t>
                      </a:r>
                      <a:endParaRPr lang="en-US" sz="816" dirty="0">
                        <a:latin typeface="ui-sans-serif" charset="0"/>
                        <a:ea typeface="ui-sans-serif" charset="0"/>
                        <a:cs typeface="ui-sans-serif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16" b="1" dirty="0">
                          <a:solidFill>
                            <a:srgbClr val="E6EDF3"/>
                          </a:solidFill>
                          <a:latin typeface="ui-sans-serif" pitchFamily="34" charset="0"/>
                          <a:ea typeface="ui-sans-serif" pitchFamily="34" charset="-122"/>
                          <a:cs typeface="ui-sans-serif" pitchFamily="34" charset="-120"/>
                        </a:rPr>
                        <a:t>Skincare</a:t>
                      </a:r>
                      <a:endParaRPr lang="en-US" sz="816" dirty="0">
                        <a:latin typeface="ui-sans-serif" charset="0"/>
                        <a:ea typeface="ui-sans-serif" charset="0"/>
                        <a:cs typeface="ui-sans-serif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16" b="1" dirty="0">
                          <a:solidFill>
                            <a:srgbClr val="E6EDF3"/>
                          </a:solidFill>
                          <a:latin typeface="ui-sans-serif" pitchFamily="34" charset="0"/>
                          <a:ea typeface="ui-sans-serif" pitchFamily="34" charset="-122"/>
                          <a:cs typeface="ui-sans-serif" pitchFamily="34" charset="-120"/>
                        </a:rPr>
                        <a:t>Total</a:t>
                      </a:r>
                      <a:endParaRPr lang="en-US" sz="816" dirty="0">
                        <a:latin typeface="ui-sans-serif" charset="0"/>
                        <a:ea typeface="ui-sans-serif" charset="0"/>
                        <a:cs typeface="ui-sans-serif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14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E6EDF3"/>
                          </a:solidFill>
                          <a:latin typeface="ui-sans-serif" pitchFamily="34" charset="0"/>
                          <a:ea typeface="ui-sans-serif" pitchFamily="34" charset="-122"/>
                          <a:cs typeface="ui-sans-serif" pitchFamily="34" charset="-120"/>
                        </a:rPr>
                        <a:t>Supplier 2</a:t>
                      </a:r>
                      <a:endParaRPr lang="en-US" sz="900" dirty="0">
                        <a:latin typeface="ui-sans-serif" charset="0"/>
                        <a:ea typeface="ui-sans-serif" charset="0"/>
                        <a:cs typeface="ui-sans-serif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87171"/>
                          </a:solidFill>
                          <a:latin typeface="ui-sans-serif" pitchFamily="34" charset="0"/>
                          <a:ea typeface="ui-sans-serif" pitchFamily="34" charset="-122"/>
                          <a:cs typeface="ui-sans-serif" pitchFamily="34" charset="-120"/>
                        </a:rPr>
                        <a:t>14.19</a:t>
                      </a:r>
                      <a:endParaRPr lang="en-US" sz="900" dirty="0">
                        <a:latin typeface="ui-sans-serif" charset="0"/>
                        <a:ea typeface="ui-sans-serif" charset="0"/>
                        <a:cs typeface="ui-sans-serif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87171"/>
                          </a:solidFill>
                          <a:latin typeface="ui-sans-serif" pitchFamily="34" charset="0"/>
                          <a:ea typeface="ui-sans-serif" pitchFamily="34" charset="-122"/>
                          <a:cs typeface="ui-sans-serif" pitchFamily="34" charset="-120"/>
                        </a:rPr>
                        <a:t>24.53</a:t>
                      </a:r>
                      <a:endParaRPr lang="en-US" sz="900" dirty="0">
                        <a:latin typeface="ui-sans-serif" charset="0"/>
                        <a:ea typeface="ui-sans-serif" charset="0"/>
                        <a:cs typeface="ui-sans-serif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E6EDF3"/>
                          </a:solidFill>
                          <a:latin typeface="ui-sans-serif" pitchFamily="34" charset="0"/>
                          <a:ea typeface="ui-sans-serif" pitchFamily="34" charset="-122"/>
                          <a:cs typeface="ui-sans-serif" pitchFamily="34" charset="-120"/>
                        </a:rPr>
                        <a:t>13.26</a:t>
                      </a:r>
                      <a:endParaRPr lang="en-US" sz="900" dirty="0">
                        <a:latin typeface="ui-sans-serif" charset="0"/>
                        <a:ea typeface="ui-sans-serif" charset="0"/>
                        <a:cs typeface="ui-sans-serif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87171"/>
                          </a:solidFill>
                          <a:latin typeface="ui-sans-serif" pitchFamily="34" charset="0"/>
                          <a:ea typeface="ui-sans-serif" pitchFamily="34" charset="-122"/>
                          <a:cs typeface="ui-sans-serif" pitchFamily="34" charset="-120"/>
                        </a:rPr>
                        <a:t>51.98</a:t>
                      </a:r>
                      <a:endParaRPr lang="en-US" sz="900" dirty="0">
                        <a:latin typeface="ui-sans-serif" charset="0"/>
                        <a:ea typeface="ui-sans-serif" charset="0"/>
                        <a:cs typeface="ui-sans-serif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14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E6EDF3"/>
                          </a:solidFill>
                          <a:latin typeface="ui-sans-serif" pitchFamily="34" charset="0"/>
                          <a:ea typeface="ui-sans-serif" pitchFamily="34" charset="-122"/>
                          <a:cs typeface="ui-sans-serif" pitchFamily="34" charset="-120"/>
                        </a:rPr>
                        <a:t>Supplier 5</a:t>
                      </a:r>
                      <a:endParaRPr lang="en-US" sz="900" dirty="0">
                        <a:latin typeface="ui-sans-serif" charset="0"/>
                        <a:ea typeface="ui-sans-serif" charset="0"/>
                        <a:cs typeface="ui-sans-serif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E6EDF3"/>
                          </a:solidFill>
                          <a:latin typeface="ui-sans-serif" pitchFamily="34" charset="0"/>
                          <a:ea typeface="ui-sans-serif" pitchFamily="34" charset="-122"/>
                          <a:cs typeface="ui-sans-serif" pitchFamily="34" charset="-120"/>
                        </a:rPr>
                        <a:t>12.58</a:t>
                      </a:r>
                      <a:endParaRPr lang="en-US" sz="900" dirty="0">
                        <a:latin typeface="ui-sans-serif" charset="0"/>
                        <a:ea typeface="ui-sans-serif" charset="0"/>
                        <a:cs typeface="ui-sans-serif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E6EDF3"/>
                          </a:solidFill>
                          <a:latin typeface="ui-sans-serif" pitchFamily="34" charset="0"/>
                          <a:ea typeface="ui-sans-serif" pitchFamily="34" charset="-122"/>
                          <a:cs typeface="ui-sans-serif" pitchFamily="34" charset="-120"/>
                        </a:rPr>
                        <a:t>11.09</a:t>
                      </a:r>
                      <a:endParaRPr lang="en-US" sz="900" dirty="0">
                        <a:latin typeface="ui-sans-serif" charset="0"/>
                        <a:ea typeface="ui-sans-serif" charset="0"/>
                        <a:cs typeface="ui-sans-serif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E6EDF3"/>
                          </a:solidFill>
                          <a:latin typeface="ui-sans-serif" pitchFamily="34" charset="0"/>
                          <a:ea typeface="ui-sans-serif" pitchFamily="34" charset="-122"/>
                          <a:cs typeface="ui-sans-serif" pitchFamily="34" charset="-120"/>
                        </a:rPr>
                        <a:t>24.31</a:t>
                      </a:r>
                      <a:endParaRPr lang="en-US" sz="900" dirty="0">
                        <a:latin typeface="ui-sans-serif" charset="0"/>
                        <a:ea typeface="ui-sans-serif" charset="0"/>
                        <a:cs typeface="ui-sans-serif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BBF24"/>
                          </a:solidFill>
                          <a:latin typeface="ui-sans-serif" pitchFamily="34" charset="0"/>
                          <a:ea typeface="ui-sans-serif" pitchFamily="34" charset="-122"/>
                          <a:cs typeface="ui-sans-serif" pitchFamily="34" charset="-120"/>
                        </a:rPr>
                        <a:t>47.98</a:t>
                      </a:r>
                      <a:endParaRPr lang="en-US" sz="900" dirty="0">
                        <a:latin typeface="ui-sans-serif" charset="0"/>
                        <a:ea typeface="ui-sans-serif" charset="0"/>
                        <a:cs typeface="ui-sans-serif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14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E6EDF3"/>
                          </a:solidFill>
                          <a:latin typeface="ui-sans-serif" pitchFamily="34" charset="0"/>
                          <a:ea typeface="ui-sans-serif" pitchFamily="34" charset="-122"/>
                          <a:cs typeface="ui-sans-serif" pitchFamily="34" charset="-120"/>
                        </a:rPr>
                        <a:t>Supplier 1</a:t>
                      </a:r>
                      <a:endParaRPr lang="en-US" sz="900" dirty="0">
                        <a:latin typeface="ui-sans-serif" charset="0"/>
                        <a:ea typeface="ui-sans-serif" charset="0"/>
                        <a:cs typeface="ui-sans-serif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E6EDF3"/>
                          </a:solidFill>
                          <a:latin typeface="ui-sans-serif" pitchFamily="34" charset="0"/>
                          <a:ea typeface="ui-sans-serif" pitchFamily="34" charset="-122"/>
                          <a:cs typeface="ui-sans-serif" pitchFamily="34" charset="-120"/>
                        </a:rPr>
                        <a:t>10.91</a:t>
                      </a:r>
                      <a:endParaRPr lang="en-US" sz="900" dirty="0">
                        <a:latin typeface="ui-sans-serif" charset="0"/>
                        <a:ea typeface="ui-sans-serif" charset="0"/>
                        <a:cs typeface="ui-sans-serif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E6EDF3"/>
                          </a:solidFill>
                          <a:latin typeface="ui-sans-serif" pitchFamily="34" charset="0"/>
                          <a:ea typeface="ui-sans-serif" pitchFamily="34" charset="-122"/>
                          <a:cs typeface="ui-sans-serif" pitchFamily="34" charset="-120"/>
                        </a:rPr>
                        <a:t>12.72</a:t>
                      </a:r>
                      <a:endParaRPr lang="en-US" sz="900" dirty="0">
                        <a:latin typeface="ui-sans-serif" charset="0"/>
                        <a:ea typeface="ui-sans-serif" charset="0"/>
                        <a:cs typeface="ui-sans-serif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E6EDF3"/>
                          </a:solidFill>
                          <a:latin typeface="ui-sans-serif" pitchFamily="34" charset="0"/>
                          <a:ea typeface="ui-sans-serif" pitchFamily="34" charset="-122"/>
                          <a:cs typeface="ui-sans-serif" pitchFamily="34" charset="-120"/>
                        </a:rPr>
                        <a:t>25.07</a:t>
                      </a:r>
                      <a:endParaRPr lang="en-US" sz="900" dirty="0">
                        <a:latin typeface="ui-sans-serif" charset="0"/>
                        <a:ea typeface="ui-sans-serif" charset="0"/>
                        <a:cs typeface="ui-sans-serif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BBF24"/>
                          </a:solidFill>
                          <a:latin typeface="ui-sans-serif" pitchFamily="34" charset="0"/>
                          <a:ea typeface="ui-sans-serif" pitchFamily="34" charset="-122"/>
                          <a:cs typeface="ui-sans-serif" pitchFamily="34" charset="-120"/>
                        </a:rPr>
                        <a:t>48.70</a:t>
                      </a:r>
                      <a:endParaRPr lang="en-US" sz="900" dirty="0">
                        <a:latin typeface="ui-sans-serif" charset="0"/>
                        <a:ea typeface="ui-sans-serif" charset="0"/>
                        <a:cs typeface="ui-sans-serif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14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E6EDF3"/>
                          </a:solidFill>
                          <a:latin typeface="ui-sans-serif" pitchFamily="34" charset="0"/>
                          <a:ea typeface="ui-sans-serif" pitchFamily="34" charset="-122"/>
                          <a:cs typeface="ui-sans-serif" pitchFamily="34" charset="-120"/>
                        </a:rPr>
                        <a:t>Supplier 3</a:t>
                      </a:r>
                      <a:endParaRPr lang="en-US" sz="900" dirty="0">
                        <a:latin typeface="ui-sans-serif" charset="0"/>
                        <a:ea typeface="ui-sans-serif" charset="0"/>
                        <a:cs typeface="ui-sans-serif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E6EDF3"/>
                          </a:solidFill>
                          <a:latin typeface="ui-sans-serif" pitchFamily="34" charset="0"/>
                          <a:ea typeface="ui-sans-serif" pitchFamily="34" charset="-122"/>
                          <a:cs typeface="ui-sans-serif" pitchFamily="34" charset="-120"/>
                        </a:rPr>
                        <a:t>3.87</a:t>
                      </a:r>
                      <a:endParaRPr lang="en-US" sz="900" dirty="0">
                        <a:latin typeface="ui-sans-serif" charset="0"/>
                        <a:ea typeface="ui-sans-serif" charset="0"/>
                        <a:cs typeface="ui-sans-serif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E6EDF3"/>
                          </a:solidFill>
                          <a:latin typeface="ui-sans-serif" pitchFamily="34" charset="0"/>
                          <a:ea typeface="ui-sans-serif" pitchFamily="34" charset="-122"/>
                          <a:cs typeface="ui-sans-serif" pitchFamily="34" charset="-120"/>
                        </a:rPr>
                        <a:t>10.28</a:t>
                      </a:r>
                      <a:endParaRPr lang="en-US" sz="900" dirty="0">
                        <a:latin typeface="ui-sans-serif" charset="0"/>
                        <a:ea typeface="ui-sans-serif" charset="0"/>
                        <a:cs typeface="ui-sans-serif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E6EDF3"/>
                          </a:solidFill>
                          <a:latin typeface="ui-sans-serif" pitchFamily="34" charset="0"/>
                          <a:ea typeface="ui-sans-serif" pitchFamily="34" charset="-122"/>
                          <a:cs typeface="ui-sans-serif" pitchFamily="34" charset="-120"/>
                        </a:rPr>
                        <a:t>22.83</a:t>
                      </a:r>
                      <a:endParaRPr lang="en-US" sz="900" dirty="0">
                        <a:latin typeface="ui-sans-serif" charset="0"/>
                        <a:ea typeface="ui-sans-serif" charset="0"/>
                        <a:cs typeface="ui-sans-serif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4ADE80"/>
                          </a:solidFill>
                          <a:latin typeface="ui-sans-serif" pitchFamily="34" charset="0"/>
                          <a:ea typeface="ui-sans-serif" pitchFamily="34" charset="-122"/>
                          <a:cs typeface="ui-sans-serif" pitchFamily="34" charset="-120"/>
                        </a:rPr>
                        <a:t>36.95</a:t>
                      </a:r>
                      <a:endParaRPr lang="en-US" sz="900" dirty="0">
                        <a:latin typeface="ui-sans-serif" charset="0"/>
                        <a:ea typeface="ui-sans-serif" charset="0"/>
                        <a:cs typeface="ui-sans-serif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14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E6EDF3"/>
                          </a:solidFill>
                          <a:latin typeface="ui-sans-serif" pitchFamily="34" charset="0"/>
                          <a:ea typeface="ui-sans-serif" pitchFamily="34" charset="-122"/>
                          <a:cs typeface="ui-sans-serif" pitchFamily="34" charset="-120"/>
                        </a:rPr>
                        <a:t>Supplier 4</a:t>
                      </a:r>
                      <a:endParaRPr lang="en-US" sz="900" dirty="0">
                        <a:latin typeface="ui-sans-serif" charset="0"/>
                        <a:ea typeface="ui-sans-serif" charset="0"/>
                        <a:cs typeface="ui-sans-serif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E6EDF3"/>
                          </a:solidFill>
                          <a:latin typeface="ui-sans-serif" pitchFamily="34" charset="0"/>
                          <a:ea typeface="ui-sans-serif" pitchFamily="34" charset="-122"/>
                          <a:cs typeface="ui-sans-serif" pitchFamily="34" charset="-120"/>
                        </a:rPr>
                        <a:t>8.35</a:t>
                      </a:r>
                      <a:endParaRPr lang="en-US" sz="900" dirty="0">
                        <a:latin typeface="ui-sans-serif" charset="0"/>
                        <a:ea typeface="ui-sans-serif" charset="0"/>
                        <a:cs typeface="ui-sans-serif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E6EDF3"/>
                          </a:solidFill>
                          <a:latin typeface="ui-sans-serif" pitchFamily="34" charset="0"/>
                          <a:ea typeface="ui-sans-serif" pitchFamily="34" charset="-122"/>
                          <a:cs typeface="ui-sans-serif" pitchFamily="34" charset="-120"/>
                        </a:rPr>
                        <a:t>25.81</a:t>
                      </a:r>
                      <a:endParaRPr lang="en-US" sz="900" dirty="0">
                        <a:latin typeface="ui-sans-serif" charset="0"/>
                        <a:ea typeface="ui-sans-serif" charset="0"/>
                        <a:cs typeface="ui-sans-serif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E6EDF3"/>
                          </a:solidFill>
                          <a:latin typeface="ui-sans-serif" pitchFamily="34" charset="0"/>
                          <a:ea typeface="ui-sans-serif" pitchFamily="34" charset="-122"/>
                          <a:cs typeface="ui-sans-serif" pitchFamily="34" charset="-120"/>
                        </a:rPr>
                        <a:t>7.91</a:t>
                      </a:r>
                      <a:endParaRPr lang="en-US" sz="900" dirty="0">
                        <a:latin typeface="ui-sans-serif" charset="0"/>
                        <a:ea typeface="ui-sans-serif" charset="0"/>
                        <a:cs typeface="ui-sans-serif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BBF24"/>
                          </a:solidFill>
                          <a:latin typeface="ui-sans-serif" pitchFamily="34" charset="0"/>
                          <a:ea typeface="ui-sans-serif" pitchFamily="34" charset="-122"/>
                          <a:cs typeface="ui-sans-serif" pitchFamily="34" charset="-120"/>
                        </a:rPr>
                        <a:t>42.07</a:t>
                      </a:r>
                      <a:endParaRPr lang="en-US" sz="900" dirty="0">
                        <a:latin typeface="ui-sans-serif" charset="0"/>
                        <a:ea typeface="ui-sans-serif" charset="0"/>
                        <a:cs typeface="ui-sans-serif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14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E6EDF3"/>
                          </a:solidFill>
                          <a:latin typeface="ui-sans-serif" pitchFamily="34" charset="0"/>
                          <a:ea typeface="ui-sans-serif" pitchFamily="34" charset="-122"/>
                          <a:cs typeface="ui-sans-serif" pitchFamily="34" charset="-120"/>
                        </a:rPr>
                        <a:t>TOTAL</a:t>
                      </a:r>
                      <a:endParaRPr lang="en-US" sz="900" dirty="0">
                        <a:latin typeface="ui-sans-serif" charset="0"/>
                        <a:ea typeface="ui-sans-serif" charset="0"/>
                        <a:cs typeface="ui-sans-serif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E6EDF3"/>
                          </a:solidFill>
                          <a:latin typeface="ui-sans-serif" pitchFamily="34" charset="0"/>
                          <a:ea typeface="ui-sans-serif" pitchFamily="34" charset="-122"/>
                          <a:cs typeface="ui-sans-serif" pitchFamily="34" charset="-120"/>
                        </a:rPr>
                        <a:t>49.90</a:t>
                      </a:r>
                      <a:endParaRPr lang="en-US" sz="900" dirty="0">
                        <a:latin typeface="ui-sans-serif" charset="0"/>
                        <a:ea typeface="ui-sans-serif" charset="0"/>
                        <a:cs typeface="ui-sans-serif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87171"/>
                          </a:solidFill>
                          <a:latin typeface="ui-sans-serif" pitchFamily="34" charset="0"/>
                          <a:ea typeface="ui-sans-serif" pitchFamily="34" charset="-122"/>
                          <a:cs typeface="ui-sans-serif" pitchFamily="34" charset="-120"/>
                        </a:rPr>
                        <a:t>84.43</a:t>
                      </a:r>
                      <a:endParaRPr lang="en-US" sz="900" dirty="0">
                        <a:latin typeface="ui-sans-serif" charset="0"/>
                        <a:ea typeface="ui-sans-serif" charset="0"/>
                        <a:cs typeface="ui-sans-serif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87171"/>
                          </a:solidFill>
                          <a:latin typeface="ui-sans-serif" pitchFamily="34" charset="0"/>
                          <a:ea typeface="ui-sans-serif" pitchFamily="34" charset="-122"/>
                          <a:cs typeface="ui-sans-serif" pitchFamily="34" charset="-120"/>
                        </a:rPr>
                        <a:t>93.39</a:t>
                      </a:r>
                      <a:endParaRPr lang="en-US" sz="900" dirty="0">
                        <a:latin typeface="ui-sans-serif" charset="0"/>
                        <a:ea typeface="ui-sans-serif" charset="0"/>
                        <a:cs typeface="ui-sans-serif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E6EDF3"/>
                          </a:solidFill>
                          <a:latin typeface="ui-sans-serif" pitchFamily="34" charset="0"/>
                          <a:ea typeface="ui-sans-serif" pitchFamily="34" charset="-122"/>
                          <a:cs typeface="ui-sans-serif" pitchFamily="34" charset="-120"/>
                        </a:rPr>
                        <a:t>227.72</a:t>
                      </a:r>
                      <a:endParaRPr lang="en-US" sz="900" dirty="0">
                        <a:latin typeface="ui-sans-serif" charset="0"/>
                        <a:ea typeface="ui-sans-serif" charset="0"/>
                        <a:cs typeface="ui-sans-serif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457200" y="183803"/>
            <a:ext cx="8394192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40"/>
              </a:lnSpc>
              <a:buNone/>
            </a:pPr>
            <a:r>
              <a:rPr lang="en-US" sz="960" dirty="0">
                <a:solidFill>
                  <a:srgbClr val="F8717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Quality Control</a:t>
            </a:r>
            <a:endParaRPr lang="en-US" sz="960" dirty="0"/>
          </a:p>
        </p:txBody>
      </p:sp>
      <p:sp>
        <p:nvSpPr>
          <p:cNvPr id="11" name="Text 8"/>
          <p:cNvSpPr/>
          <p:nvPr/>
        </p:nvSpPr>
        <p:spPr>
          <a:xfrm>
            <a:off x="457200" y="442764"/>
            <a:ext cx="8394192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500"/>
              </a:lnSpc>
              <a:buNone/>
            </a:pPr>
            <a:r>
              <a:rPr lang="en-US" sz="3000" dirty="0">
                <a:solidFill>
                  <a:srgbClr val="E6EDF3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Defect Rate Diagnostic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655290" y="1425625"/>
            <a:ext cx="3684148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40"/>
              </a:lnSpc>
              <a:buNone/>
            </a:pPr>
            <a:r>
              <a:rPr lang="en-US" sz="960" b="1" dirty="0">
                <a:solidFill>
                  <a:srgbClr val="F8717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Defect Rate by Supplier × Product</a:t>
            </a:r>
            <a:endParaRPr lang="en-US" sz="960" dirty="0"/>
          </a:p>
        </p:txBody>
      </p:sp>
      <p:sp>
        <p:nvSpPr>
          <p:cNvPr id="13" name="Text 10"/>
          <p:cNvSpPr/>
          <p:nvPr/>
        </p:nvSpPr>
        <p:spPr>
          <a:xfrm>
            <a:off x="4855666" y="1404640"/>
            <a:ext cx="3727109" cy="178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4"/>
              </a:lnSpc>
              <a:buNone/>
            </a:pPr>
            <a:r>
              <a:rPr lang="en-US" sz="936" b="1" dirty="0">
                <a:solidFill>
                  <a:srgbClr val="F8717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🚨 Critical Findings</a:t>
            </a:r>
            <a:endParaRPr lang="en-US" sz="936" dirty="0"/>
          </a:p>
        </p:txBody>
      </p:sp>
      <p:sp>
        <p:nvSpPr>
          <p:cNvPr id="14" name="Text 11"/>
          <p:cNvSpPr/>
          <p:nvPr/>
        </p:nvSpPr>
        <p:spPr>
          <a:xfrm>
            <a:off x="4855666" y="1659136"/>
            <a:ext cx="3654028" cy="850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404"/>
              </a:lnSpc>
              <a:buSzPct val="100000"/>
              <a:buChar char="•"/>
            </a:pPr>
            <a:r>
              <a:rPr lang="en-US" sz="936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Supplier 2 haircare: 24.53 defect rate (highest)</a:t>
            </a:r>
            <a:endParaRPr lang="en-US" sz="936" dirty="0"/>
          </a:p>
          <a:p>
            <a:pPr marL="342900" indent="-342900">
              <a:lnSpc>
                <a:spcPts val="1404"/>
              </a:lnSpc>
              <a:buSzPct val="100000"/>
              <a:buChar char="•"/>
            </a:pPr>
            <a:r>
              <a:rPr lang="en-US" sz="936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Supplier 4 haircare: 25.81 — most critical pairing</a:t>
            </a:r>
            <a:endParaRPr lang="en-US" sz="936" dirty="0"/>
          </a:p>
          <a:p>
            <a:pPr marL="342900" indent="-342900">
              <a:lnSpc>
                <a:spcPts val="1404"/>
              </a:lnSpc>
              <a:buSzPct val="100000"/>
              <a:buChar char="•"/>
            </a:pPr>
            <a:r>
              <a:rPr lang="en-US" sz="936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Skincare total: 93.39 — systemic issue across all suppliers</a:t>
            </a:r>
            <a:endParaRPr lang="en-US" sz="936" dirty="0"/>
          </a:p>
          <a:p>
            <a:pPr marL="342900" indent="-342900">
              <a:lnSpc>
                <a:spcPts val="1404"/>
              </a:lnSpc>
              <a:buSzPct val="100000"/>
              <a:buChar char="•"/>
            </a:pPr>
            <a:r>
              <a:rPr lang="en-US" sz="936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Total defects 227.72 across all supplier-product combos</a:t>
            </a:r>
            <a:endParaRPr lang="en-US" sz="936" dirty="0"/>
          </a:p>
        </p:txBody>
      </p:sp>
      <p:sp>
        <p:nvSpPr>
          <p:cNvPr id="15" name="Text 12"/>
          <p:cNvSpPr/>
          <p:nvPr/>
        </p:nvSpPr>
        <p:spPr>
          <a:xfrm>
            <a:off x="4846141" y="2991148"/>
            <a:ext cx="3746540" cy="178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4"/>
              </a:lnSpc>
              <a:buNone/>
            </a:pPr>
            <a:r>
              <a:rPr lang="en-US" sz="936" b="1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📋 Inspection Results (All Products)</a:t>
            </a:r>
            <a:endParaRPr lang="en-US" sz="936" dirty="0"/>
          </a:p>
        </p:txBody>
      </p:sp>
      <p:sp>
        <p:nvSpPr>
          <p:cNvPr id="16" name="Text 13"/>
          <p:cNvSpPr/>
          <p:nvPr/>
        </p:nvSpPr>
        <p:spPr>
          <a:xfrm>
            <a:off x="4846141" y="3264991"/>
            <a:ext cx="2365421" cy="178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4"/>
              </a:lnSpc>
              <a:buNone/>
            </a:pPr>
            <a:r>
              <a:rPr lang="en-US" sz="936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Skincare: Pass 11 / Fail 13 / Pending 16</a:t>
            </a:r>
            <a:endParaRPr lang="en-US" sz="936" dirty="0"/>
          </a:p>
        </p:txBody>
      </p:sp>
      <p:sp>
        <p:nvSpPr>
          <p:cNvPr id="17" name="Text 14"/>
          <p:cNvSpPr/>
          <p:nvPr/>
        </p:nvSpPr>
        <p:spPr>
          <a:xfrm>
            <a:off x="4846141" y="3558332"/>
            <a:ext cx="2276919" cy="178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4"/>
              </a:lnSpc>
              <a:buNone/>
            </a:pPr>
            <a:r>
              <a:rPr lang="en-US" sz="936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Haircare: Pass 6 / Fail 13 / Pending 15</a:t>
            </a:r>
            <a:endParaRPr lang="en-US" sz="936" dirty="0"/>
          </a:p>
        </p:txBody>
      </p:sp>
      <p:sp>
        <p:nvSpPr>
          <p:cNvPr id="18" name="Text 15"/>
          <p:cNvSpPr/>
          <p:nvPr/>
        </p:nvSpPr>
        <p:spPr>
          <a:xfrm>
            <a:off x="4846141" y="3851672"/>
            <a:ext cx="2393505" cy="178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4"/>
              </a:lnSpc>
              <a:buNone/>
            </a:pPr>
            <a:r>
              <a:rPr lang="en-US" sz="936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Cosmetics: Pass 6 / Fail 10 / Pending 10</a:t>
            </a:r>
            <a:endParaRPr lang="en-US" sz="936" dirty="0"/>
          </a:p>
        </p:txBody>
      </p:sp>
      <p:sp>
        <p:nvSpPr>
          <p:cNvPr id="19" name="Text 16"/>
          <p:cNvSpPr/>
          <p:nvPr/>
        </p:nvSpPr>
        <p:spPr>
          <a:xfrm>
            <a:off x="4678561" y="4354116"/>
            <a:ext cx="4008239" cy="605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5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📌 Revenue uplift from defect reduction: </a:t>
            </a:r>
            <a:r>
              <a:rPr lang="en-US" sz="900" b="1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+₹26.31K</a:t>
            </a:r>
            <a:r>
              <a:rPr lang="en-US" sz="900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projected across supply chain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6"/>
          <p:cNvSpPr/>
          <p:nvPr/>
        </p:nvSpPr>
        <p:spPr>
          <a:xfrm>
            <a:off x="4604002" y="1290339"/>
            <a:ext cx="4247390" cy="2277665"/>
          </a:xfrm>
          <a:prstGeom prst="roundRect">
            <a:avLst>
              <a:gd name="adj" fmla="val 60025"/>
            </a:avLst>
          </a:prstGeom>
          <a:solidFill>
            <a:srgbClr val="1A1A2E">
              <a:alpha val="80000"/>
            </a:srgbClr>
          </a:solidFill>
          <a:ln w="6350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678561" y="3704183"/>
            <a:ext cx="4008239" cy="1048792"/>
          </a:xfrm>
          <a:prstGeom prst="roundRect">
            <a:avLst>
              <a:gd name="adj" fmla="val 104623"/>
            </a:avLst>
          </a:prstGeom>
          <a:solidFill>
            <a:srgbClr val="1E88E5">
              <a:alpha val="7000"/>
            </a:srgbClr>
          </a:solidFill>
          <a:ln w="9525">
            <a:solidFill>
              <a:srgbClr val="1E88E5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57200" y="390674"/>
            <a:ext cx="8394192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40"/>
              </a:lnSpc>
              <a:buNone/>
            </a:pPr>
            <a:r>
              <a:rPr lang="en-US" sz="960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Supplier Performance</a:t>
            </a:r>
            <a:endParaRPr lang="en-US" sz="960" dirty="0"/>
          </a:p>
        </p:txBody>
      </p:sp>
      <p:sp>
        <p:nvSpPr>
          <p:cNvPr id="11" name="Text 9"/>
          <p:cNvSpPr/>
          <p:nvPr/>
        </p:nvSpPr>
        <p:spPr>
          <a:xfrm>
            <a:off x="457200" y="649635"/>
            <a:ext cx="8394192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500"/>
              </a:lnSpc>
              <a:buNone/>
            </a:pPr>
            <a:r>
              <a:rPr lang="en-US" sz="3000" dirty="0">
                <a:solidFill>
                  <a:srgbClr val="E6EDF3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Lead Time Analysis by Supplier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55290" y="1632496"/>
            <a:ext cx="3684148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40"/>
              </a:lnSpc>
              <a:buNone/>
            </a:pPr>
            <a:endParaRPr lang="en-US" sz="960" dirty="0"/>
          </a:p>
        </p:txBody>
      </p:sp>
      <p:sp>
        <p:nvSpPr>
          <p:cNvPr id="13" name="Text 11"/>
          <p:cNvSpPr/>
          <p:nvPr/>
        </p:nvSpPr>
        <p:spPr>
          <a:xfrm>
            <a:off x="655290" y="1967657"/>
            <a:ext cx="716822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40"/>
              </a:lnSpc>
              <a:buNone/>
            </a:pPr>
            <a:endParaRPr lang="en-US" sz="960" dirty="0"/>
          </a:p>
        </p:txBody>
      </p:sp>
      <p:sp>
        <p:nvSpPr>
          <p:cNvPr id="14" name="Text 12"/>
          <p:cNvSpPr/>
          <p:nvPr/>
        </p:nvSpPr>
        <p:spPr>
          <a:xfrm>
            <a:off x="3708053" y="1967657"/>
            <a:ext cx="570330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40"/>
              </a:lnSpc>
              <a:buNone/>
            </a:pPr>
            <a:endParaRPr lang="en-US" sz="960" dirty="0"/>
          </a:p>
        </p:txBody>
      </p:sp>
      <p:sp>
        <p:nvSpPr>
          <p:cNvPr id="15" name="Text 13"/>
          <p:cNvSpPr/>
          <p:nvPr/>
        </p:nvSpPr>
        <p:spPr>
          <a:xfrm>
            <a:off x="655290" y="2398068"/>
            <a:ext cx="716822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40"/>
              </a:lnSpc>
              <a:buNone/>
            </a:pPr>
            <a:endParaRPr lang="en-US" sz="960" dirty="0"/>
          </a:p>
        </p:txBody>
      </p:sp>
      <p:sp>
        <p:nvSpPr>
          <p:cNvPr id="16" name="Text 14"/>
          <p:cNvSpPr/>
          <p:nvPr/>
        </p:nvSpPr>
        <p:spPr>
          <a:xfrm>
            <a:off x="3708053" y="2398068"/>
            <a:ext cx="570330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40"/>
              </a:lnSpc>
              <a:buNone/>
            </a:pPr>
            <a:endParaRPr lang="en-US" sz="960" dirty="0"/>
          </a:p>
        </p:txBody>
      </p:sp>
      <p:sp>
        <p:nvSpPr>
          <p:cNvPr id="17" name="Text 15"/>
          <p:cNvSpPr/>
          <p:nvPr/>
        </p:nvSpPr>
        <p:spPr>
          <a:xfrm>
            <a:off x="655290" y="2828479"/>
            <a:ext cx="716822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40"/>
              </a:lnSpc>
              <a:buNone/>
            </a:pPr>
            <a:endParaRPr lang="en-US" sz="960" dirty="0"/>
          </a:p>
        </p:txBody>
      </p:sp>
      <p:sp>
        <p:nvSpPr>
          <p:cNvPr id="18" name="Text 16"/>
          <p:cNvSpPr/>
          <p:nvPr/>
        </p:nvSpPr>
        <p:spPr>
          <a:xfrm>
            <a:off x="3708053" y="2828479"/>
            <a:ext cx="570330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40"/>
              </a:lnSpc>
              <a:buNone/>
            </a:pPr>
            <a:endParaRPr lang="en-US" sz="960" dirty="0"/>
          </a:p>
        </p:txBody>
      </p:sp>
      <p:sp>
        <p:nvSpPr>
          <p:cNvPr id="19" name="Text 17"/>
          <p:cNvSpPr/>
          <p:nvPr/>
        </p:nvSpPr>
        <p:spPr>
          <a:xfrm>
            <a:off x="655290" y="3258889"/>
            <a:ext cx="630900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40"/>
              </a:lnSpc>
              <a:buNone/>
            </a:pPr>
            <a:endParaRPr lang="en-US" sz="960" dirty="0"/>
          </a:p>
        </p:txBody>
      </p:sp>
      <p:sp>
        <p:nvSpPr>
          <p:cNvPr id="20" name="Text 18"/>
          <p:cNvSpPr/>
          <p:nvPr/>
        </p:nvSpPr>
        <p:spPr>
          <a:xfrm>
            <a:off x="3708053" y="3258889"/>
            <a:ext cx="570330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40"/>
              </a:lnSpc>
              <a:buNone/>
            </a:pPr>
            <a:endParaRPr lang="en-US" sz="960" dirty="0"/>
          </a:p>
        </p:txBody>
      </p:sp>
      <p:sp>
        <p:nvSpPr>
          <p:cNvPr id="22" name="Text 20"/>
          <p:cNvSpPr/>
          <p:nvPr/>
        </p:nvSpPr>
        <p:spPr>
          <a:xfrm>
            <a:off x="3567113" y="3689300"/>
            <a:ext cx="714089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40"/>
              </a:lnSpc>
              <a:buNone/>
            </a:pPr>
            <a:endParaRPr lang="en-US" sz="960" dirty="0"/>
          </a:p>
        </p:txBody>
      </p:sp>
      <p:sp>
        <p:nvSpPr>
          <p:cNvPr id="23" name="Text 21"/>
          <p:cNvSpPr/>
          <p:nvPr/>
        </p:nvSpPr>
        <p:spPr>
          <a:xfrm>
            <a:off x="655290" y="4127302"/>
            <a:ext cx="3611910" cy="333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14"/>
              </a:lnSpc>
              <a:buNone/>
            </a:pPr>
            <a:endParaRPr lang="en-US" sz="876" dirty="0"/>
          </a:p>
        </p:txBody>
      </p:sp>
      <p:sp>
        <p:nvSpPr>
          <p:cNvPr id="24" name="Text 22"/>
          <p:cNvSpPr/>
          <p:nvPr/>
        </p:nvSpPr>
        <p:spPr>
          <a:xfrm>
            <a:off x="5104852" y="1581807"/>
            <a:ext cx="3746540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40"/>
              </a:lnSpc>
              <a:buNone/>
            </a:pPr>
            <a:r>
              <a:rPr lang="en-US" sz="960" b="1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Routes × Avg Lead Time</a:t>
            </a:r>
            <a:endParaRPr lang="en-US" sz="960" dirty="0"/>
          </a:p>
        </p:txBody>
      </p:sp>
      <p:sp>
        <p:nvSpPr>
          <p:cNvPr id="25" name="Text 23"/>
          <p:cNvSpPr/>
          <p:nvPr/>
        </p:nvSpPr>
        <p:spPr>
          <a:xfrm>
            <a:off x="5022474" y="1936390"/>
            <a:ext cx="1221572" cy="1736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68"/>
              </a:lnSpc>
              <a:buNone/>
            </a:pPr>
            <a:r>
              <a:rPr lang="en-US" sz="912" b="1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Route A</a:t>
            </a:r>
            <a:r>
              <a:rPr lang="en-US" sz="912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+ Carrier A</a:t>
            </a:r>
            <a:endParaRPr lang="en-US" sz="912" dirty="0"/>
          </a:p>
        </p:txBody>
      </p:sp>
      <p:sp>
        <p:nvSpPr>
          <p:cNvPr id="26" name="Text 24"/>
          <p:cNvSpPr/>
          <p:nvPr/>
        </p:nvSpPr>
        <p:spPr>
          <a:xfrm>
            <a:off x="7743676" y="1944737"/>
            <a:ext cx="791054" cy="1736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68"/>
              </a:lnSpc>
              <a:buNone/>
            </a:pPr>
            <a:r>
              <a:rPr lang="en-US" sz="912" dirty="0">
                <a:solidFill>
                  <a:srgbClr val="4ADE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10 days ✓</a:t>
            </a:r>
            <a:endParaRPr lang="en-US" sz="912" dirty="0"/>
          </a:p>
        </p:txBody>
      </p:sp>
      <p:sp>
        <p:nvSpPr>
          <p:cNvPr id="27" name="Text 25"/>
          <p:cNvSpPr/>
          <p:nvPr/>
        </p:nvSpPr>
        <p:spPr>
          <a:xfrm>
            <a:off x="5022474" y="2233941"/>
            <a:ext cx="1216866" cy="1736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68"/>
              </a:lnSpc>
              <a:buNone/>
            </a:pPr>
            <a:r>
              <a:rPr lang="en-US" sz="912" b="1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Route C</a:t>
            </a:r>
            <a:r>
              <a:rPr lang="en-US" sz="912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+ Carrier A</a:t>
            </a:r>
            <a:endParaRPr lang="en-US" sz="912" dirty="0"/>
          </a:p>
        </p:txBody>
      </p:sp>
      <p:sp>
        <p:nvSpPr>
          <p:cNvPr id="28" name="Text 26"/>
          <p:cNvSpPr/>
          <p:nvPr/>
        </p:nvSpPr>
        <p:spPr>
          <a:xfrm>
            <a:off x="7743676" y="2255490"/>
            <a:ext cx="791054" cy="1736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68"/>
              </a:lnSpc>
              <a:buNone/>
            </a:pPr>
            <a:r>
              <a:rPr lang="en-US" sz="912" dirty="0">
                <a:solidFill>
                  <a:srgbClr val="4ADE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10 days ✓</a:t>
            </a:r>
            <a:endParaRPr lang="en-US" sz="912" dirty="0"/>
          </a:p>
        </p:txBody>
      </p:sp>
      <p:sp>
        <p:nvSpPr>
          <p:cNvPr id="29" name="Text 27"/>
          <p:cNvSpPr/>
          <p:nvPr/>
        </p:nvSpPr>
        <p:spPr>
          <a:xfrm>
            <a:off x="5017464" y="2553626"/>
            <a:ext cx="1221876" cy="1736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68"/>
              </a:lnSpc>
              <a:buNone/>
            </a:pPr>
            <a:r>
              <a:rPr lang="en-US" sz="912" b="1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Route A</a:t>
            </a:r>
            <a:r>
              <a:rPr lang="en-US" sz="912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+ Carrier B</a:t>
            </a:r>
            <a:endParaRPr lang="en-US" sz="912" dirty="0"/>
          </a:p>
        </p:txBody>
      </p:sp>
      <p:sp>
        <p:nvSpPr>
          <p:cNvPr id="30" name="Text 28"/>
          <p:cNvSpPr/>
          <p:nvPr/>
        </p:nvSpPr>
        <p:spPr>
          <a:xfrm>
            <a:off x="7729658" y="2565351"/>
            <a:ext cx="654430" cy="1736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68"/>
              </a:lnSpc>
              <a:buNone/>
            </a:pPr>
            <a:r>
              <a:rPr lang="en-US" sz="912" dirty="0">
                <a:solidFill>
                  <a:srgbClr val="FBBF24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15 days</a:t>
            </a:r>
            <a:endParaRPr lang="en-US" sz="912" dirty="0"/>
          </a:p>
        </p:txBody>
      </p:sp>
      <p:sp>
        <p:nvSpPr>
          <p:cNvPr id="31" name="Text 29"/>
          <p:cNvSpPr/>
          <p:nvPr/>
        </p:nvSpPr>
        <p:spPr>
          <a:xfrm>
            <a:off x="5017464" y="2876996"/>
            <a:ext cx="1220510" cy="1736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68"/>
              </a:lnSpc>
              <a:buNone/>
            </a:pPr>
            <a:r>
              <a:rPr lang="en-US" sz="912" b="1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Route B</a:t>
            </a:r>
            <a:r>
              <a:rPr lang="en-US" sz="912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+ Carrier B</a:t>
            </a:r>
            <a:endParaRPr lang="en-US" sz="912" dirty="0"/>
          </a:p>
        </p:txBody>
      </p:sp>
      <p:sp>
        <p:nvSpPr>
          <p:cNvPr id="32" name="Text 30"/>
          <p:cNvSpPr/>
          <p:nvPr/>
        </p:nvSpPr>
        <p:spPr>
          <a:xfrm>
            <a:off x="7729658" y="2876996"/>
            <a:ext cx="654430" cy="1736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68"/>
              </a:lnSpc>
              <a:buNone/>
            </a:pPr>
            <a:r>
              <a:rPr lang="en-US" sz="912" dirty="0">
                <a:solidFill>
                  <a:srgbClr val="FBBF24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16 days</a:t>
            </a:r>
            <a:endParaRPr lang="en-US" sz="912" dirty="0"/>
          </a:p>
        </p:txBody>
      </p:sp>
      <p:sp>
        <p:nvSpPr>
          <p:cNvPr id="33" name="Text 31"/>
          <p:cNvSpPr/>
          <p:nvPr/>
        </p:nvSpPr>
        <p:spPr>
          <a:xfrm>
            <a:off x="5023840" y="3154412"/>
            <a:ext cx="1220206" cy="1736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68"/>
              </a:lnSpc>
              <a:buNone/>
            </a:pPr>
            <a:r>
              <a:rPr lang="en-US" sz="912" b="1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Route B</a:t>
            </a:r>
            <a:r>
              <a:rPr lang="en-US" sz="912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+ Carrier A</a:t>
            </a:r>
            <a:endParaRPr lang="en-US" sz="912" dirty="0"/>
          </a:p>
        </p:txBody>
      </p:sp>
      <p:sp>
        <p:nvSpPr>
          <p:cNvPr id="34" name="Text 32"/>
          <p:cNvSpPr/>
          <p:nvPr/>
        </p:nvSpPr>
        <p:spPr>
          <a:xfrm>
            <a:off x="7729658" y="3127376"/>
            <a:ext cx="797885" cy="1736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68"/>
              </a:lnSpc>
              <a:buNone/>
            </a:pPr>
            <a:r>
              <a:rPr lang="en-US" sz="912" dirty="0">
                <a:solidFill>
                  <a:srgbClr val="F8717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20 days ⚠</a:t>
            </a:r>
            <a:endParaRPr lang="en-US" sz="912" dirty="0"/>
          </a:p>
        </p:txBody>
      </p:sp>
      <p:sp>
        <p:nvSpPr>
          <p:cNvPr id="35" name="Text 33"/>
          <p:cNvSpPr/>
          <p:nvPr/>
        </p:nvSpPr>
        <p:spPr>
          <a:xfrm>
            <a:off x="4825157" y="3850778"/>
            <a:ext cx="3789349" cy="761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68"/>
              </a:lnSpc>
              <a:buNone/>
            </a:pPr>
            <a:r>
              <a:rPr lang="en-US" sz="912" b="1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💡 Optimization Opportunity </a:t>
            </a:r>
          </a:p>
          <a:p>
            <a:pPr algn="just">
              <a:lnSpc>
                <a:spcPts val="1368"/>
              </a:lnSpc>
            </a:pPr>
            <a:r>
              <a:rPr lang="en-US" sz="800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      Lead Time reduction generates ₹0 direct uplift currently (slider at 0%) — but switching     from Route B/Carrier A to Route A/Carrier A would cut lead times by 10+ days per shipment.</a:t>
            </a: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A6970949-595E-B3F0-EC0C-9D8B067409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770" y="1361161"/>
            <a:ext cx="3491895" cy="358650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6"/>
          <p:cNvSpPr/>
          <p:nvPr/>
        </p:nvSpPr>
        <p:spPr>
          <a:xfrm>
            <a:off x="4419055" y="1545582"/>
            <a:ext cx="4432337" cy="1824484"/>
          </a:xfrm>
          <a:prstGeom prst="roundRect">
            <a:avLst>
              <a:gd name="adj" fmla="val 71306"/>
            </a:avLst>
          </a:prstGeom>
          <a:solidFill>
            <a:srgbClr val="1A1A2E">
              <a:alpha val="80000"/>
            </a:srgbClr>
          </a:solidFill>
          <a:ln w="6350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846141" y="2158157"/>
            <a:ext cx="1123801" cy="76200"/>
          </a:xfrm>
          <a:prstGeom prst="rect">
            <a:avLst/>
          </a:prstGeom>
          <a:solidFill>
            <a:srgbClr val="F9A825"/>
          </a:solidFill>
          <a:ln/>
        </p:spPr>
        <p:txBody>
          <a:bodyPr wrap="none" lIns="0" tIns="0" rIns="0" bIns="0" rtlCol="0" anchor="ctr">
            <a:normAutofit fontScale="32500" lnSpcReduction="20000"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988993" y="2158157"/>
            <a:ext cx="1619994" cy="76200"/>
          </a:xfrm>
          <a:prstGeom prst="rect">
            <a:avLst/>
          </a:prstGeom>
          <a:solidFill>
            <a:srgbClr val="F87171"/>
          </a:solidFill>
          <a:ln/>
        </p:spPr>
        <p:txBody>
          <a:bodyPr wrap="none" lIns="0" tIns="0" rIns="0" bIns="0" rtlCol="0" anchor="ctr">
            <a:normAutofit fontScale="32500" lnSpcReduction="20000"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7628037" y="2158157"/>
            <a:ext cx="891183" cy="76200"/>
          </a:xfrm>
          <a:prstGeom prst="rect">
            <a:avLst/>
          </a:prstGeom>
          <a:solidFill>
            <a:srgbClr val="4ADE80"/>
          </a:solidFill>
          <a:ln/>
        </p:spPr>
        <p:txBody>
          <a:bodyPr wrap="none" lIns="0" tIns="0" rIns="0" bIns="0" rtlCol="0" anchor="ctr">
            <a:normAutofit fontScale="32500" lnSpcReduction="20000"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846141" y="2680543"/>
            <a:ext cx="1242864" cy="76200"/>
          </a:xfrm>
          <a:prstGeom prst="rect">
            <a:avLst/>
          </a:prstGeom>
          <a:solidFill>
            <a:srgbClr val="F9A825"/>
          </a:solidFill>
          <a:ln/>
        </p:spPr>
        <p:txBody>
          <a:bodyPr wrap="none" lIns="0" tIns="0" rIns="0" bIns="0" rtlCol="0" anchor="ctr">
            <a:normAutofit fontScale="32500" lnSpcReduction="20000"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108055" y="2680543"/>
            <a:ext cx="882997" cy="76200"/>
          </a:xfrm>
          <a:prstGeom prst="rect">
            <a:avLst/>
          </a:prstGeom>
          <a:solidFill>
            <a:srgbClr val="F87171"/>
          </a:solidFill>
          <a:ln/>
        </p:spPr>
        <p:txBody>
          <a:bodyPr wrap="none" lIns="0" tIns="0" rIns="0" bIns="0" rtlCol="0" anchor="ctr">
            <a:normAutofit fontScale="32500" lnSpcReduction="20000"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7010102" y="2680543"/>
            <a:ext cx="1509266" cy="76200"/>
          </a:xfrm>
          <a:prstGeom prst="rect">
            <a:avLst/>
          </a:prstGeom>
          <a:solidFill>
            <a:srgbClr val="4ADE80"/>
          </a:solidFill>
          <a:ln/>
        </p:spPr>
        <p:txBody>
          <a:bodyPr wrap="none" lIns="0" tIns="0" rIns="0" bIns="0" rtlCol="0" anchor="ctr">
            <a:normAutofit fontScale="32500" lnSpcReduction="20000"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846141" y="3035201"/>
            <a:ext cx="673150" cy="76200"/>
          </a:xfrm>
          <a:prstGeom prst="rect">
            <a:avLst/>
          </a:prstGeom>
          <a:solidFill>
            <a:srgbClr val="F9A825"/>
          </a:solidFill>
          <a:ln/>
        </p:spPr>
        <p:txBody>
          <a:bodyPr wrap="none" lIns="0" tIns="0" rIns="0" bIns="0" rtlCol="0" anchor="ctr">
            <a:normAutofit fontScale="32500" lnSpcReduction="20000"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538341" y="3035201"/>
            <a:ext cx="1304925" cy="76200"/>
          </a:xfrm>
          <a:prstGeom prst="rect">
            <a:avLst/>
          </a:prstGeom>
          <a:solidFill>
            <a:srgbClr val="F87171"/>
          </a:solidFill>
          <a:ln/>
        </p:spPr>
        <p:txBody>
          <a:bodyPr wrap="none" lIns="0" tIns="0" rIns="0" bIns="0" rtlCol="0" anchor="ctr">
            <a:normAutofit fontScale="32500" lnSpcReduction="20000"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862316" y="3035201"/>
            <a:ext cx="1656755" cy="76200"/>
          </a:xfrm>
          <a:prstGeom prst="rect">
            <a:avLst/>
          </a:prstGeom>
          <a:solidFill>
            <a:srgbClr val="4ADE80"/>
          </a:solidFill>
          <a:ln/>
        </p:spPr>
        <p:txBody>
          <a:bodyPr wrap="none" lIns="0" tIns="0" rIns="0" bIns="0" rtlCol="0" anchor="ctr">
            <a:normAutofit fontScale="32500" lnSpcReduction="20000"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678561" y="3416052"/>
            <a:ext cx="4008239" cy="1024682"/>
          </a:xfrm>
          <a:prstGeom prst="roundRect">
            <a:avLst>
              <a:gd name="adj" fmla="val 107085"/>
            </a:avLst>
          </a:prstGeom>
          <a:solidFill>
            <a:srgbClr val="F9A825">
              <a:alpha val="7000"/>
            </a:srgbClr>
          </a:solidFill>
          <a:ln w="9525">
            <a:solidFill>
              <a:srgbClr val="F9A825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57200" y="439936"/>
            <a:ext cx="8394192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40"/>
              </a:lnSpc>
              <a:buNone/>
            </a:pPr>
            <a:r>
              <a:rPr lang="en-US" sz="960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Geographic Analysis</a:t>
            </a:r>
            <a:endParaRPr lang="en-US" sz="960" dirty="0"/>
          </a:p>
        </p:txBody>
      </p:sp>
      <p:sp>
        <p:nvSpPr>
          <p:cNvPr id="20" name="Text 18"/>
          <p:cNvSpPr/>
          <p:nvPr/>
        </p:nvSpPr>
        <p:spPr>
          <a:xfrm>
            <a:off x="457200" y="698897"/>
            <a:ext cx="8394192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500"/>
              </a:lnSpc>
              <a:buNone/>
            </a:pPr>
            <a:r>
              <a:rPr lang="en-US" sz="3000" dirty="0">
                <a:solidFill>
                  <a:srgbClr val="E6EDF3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Cost Efficiency by Location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655290" y="1681758"/>
            <a:ext cx="3684148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40"/>
              </a:lnSpc>
              <a:buNone/>
            </a:pPr>
            <a:endParaRPr lang="en-US" sz="960" dirty="0"/>
          </a:p>
        </p:txBody>
      </p:sp>
      <p:sp>
        <p:nvSpPr>
          <p:cNvPr id="22" name="Text 20"/>
          <p:cNvSpPr/>
          <p:nvPr/>
        </p:nvSpPr>
        <p:spPr>
          <a:xfrm>
            <a:off x="655290" y="2016919"/>
            <a:ext cx="557427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40"/>
              </a:lnSpc>
              <a:buNone/>
            </a:pPr>
            <a:endParaRPr lang="en-US" sz="960" dirty="0"/>
          </a:p>
        </p:txBody>
      </p:sp>
      <p:sp>
        <p:nvSpPr>
          <p:cNvPr id="23" name="Text 21"/>
          <p:cNvSpPr/>
          <p:nvPr/>
        </p:nvSpPr>
        <p:spPr>
          <a:xfrm>
            <a:off x="3546128" y="2016919"/>
            <a:ext cx="735494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40"/>
              </a:lnSpc>
              <a:buNone/>
            </a:pPr>
            <a:endParaRPr lang="en-US" sz="960" dirty="0"/>
          </a:p>
        </p:txBody>
      </p:sp>
      <p:sp>
        <p:nvSpPr>
          <p:cNvPr id="24" name="Text 22"/>
          <p:cNvSpPr/>
          <p:nvPr/>
        </p:nvSpPr>
        <p:spPr>
          <a:xfrm>
            <a:off x="655290" y="2447330"/>
            <a:ext cx="456932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40"/>
              </a:lnSpc>
              <a:buNone/>
            </a:pPr>
            <a:endParaRPr lang="en-US" sz="960" dirty="0"/>
          </a:p>
        </p:txBody>
      </p:sp>
      <p:sp>
        <p:nvSpPr>
          <p:cNvPr id="25" name="Text 23"/>
          <p:cNvSpPr/>
          <p:nvPr/>
        </p:nvSpPr>
        <p:spPr>
          <a:xfrm>
            <a:off x="3918198" y="2447330"/>
            <a:ext cx="355982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40"/>
              </a:lnSpc>
              <a:buNone/>
            </a:pPr>
            <a:endParaRPr lang="en-US" sz="960" dirty="0"/>
          </a:p>
        </p:txBody>
      </p:sp>
      <p:sp>
        <p:nvSpPr>
          <p:cNvPr id="26" name="Text 24"/>
          <p:cNvSpPr/>
          <p:nvPr/>
        </p:nvSpPr>
        <p:spPr>
          <a:xfrm>
            <a:off x="655290" y="2877741"/>
            <a:ext cx="320156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40"/>
              </a:lnSpc>
              <a:buNone/>
            </a:pPr>
            <a:endParaRPr lang="en-US" sz="960" dirty="0"/>
          </a:p>
        </p:txBody>
      </p:sp>
      <p:sp>
        <p:nvSpPr>
          <p:cNvPr id="27" name="Text 25"/>
          <p:cNvSpPr/>
          <p:nvPr/>
        </p:nvSpPr>
        <p:spPr>
          <a:xfrm>
            <a:off x="3995738" y="2877741"/>
            <a:ext cx="276892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40"/>
              </a:lnSpc>
              <a:buNone/>
            </a:pPr>
            <a:endParaRPr lang="en-US" sz="960" dirty="0"/>
          </a:p>
        </p:txBody>
      </p:sp>
      <p:sp>
        <p:nvSpPr>
          <p:cNvPr id="28" name="Text 26"/>
          <p:cNvSpPr/>
          <p:nvPr/>
        </p:nvSpPr>
        <p:spPr>
          <a:xfrm>
            <a:off x="655290" y="3308152"/>
            <a:ext cx="630900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40"/>
              </a:lnSpc>
              <a:buNone/>
            </a:pPr>
            <a:endParaRPr lang="en-US" sz="960" dirty="0"/>
          </a:p>
        </p:txBody>
      </p:sp>
      <p:sp>
        <p:nvSpPr>
          <p:cNvPr id="30" name="Text 28"/>
          <p:cNvSpPr/>
          <p:nvPr/>
        </p:nvSpPr>
        <p:spPr>
          <a:xfrm>
            <a:off x="655290" y="3738563"/>
            <a:ext cx="510519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40"/>
              </a:lnSpc>
              <a:buNone/>
            </a:pPr>
            <a:endParaRPr lang="en-US" sz="960" dirty="0"/>
          </a:p>
        </p:txBody>
      </p:sp>
      <p:sp>
        <p:nvSpPr>
          <p:cNvPr id="31" name="Text 29"/>
          <p:cNvSpPr/>
          <p:nvPr/>
        </p:nvSpPr>
        <p:spPr>
          <a:xfrm>
            <a:off x="3264991" y="3738563"/>
            <a:ext cx="1022253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40"/>
              </a:lnSpc>
              <a:buNone/>
            </a:pPr>
            <a:endParaRPr lang="en-US" sz="960" dirty="0"/>
          </a:p>
        </p:txBody>
      </p:sp>
      <p:sp>
        <p:nvSpPr>
          <p:cNvPr id="32" name="Text 30"/>
          <p:cNvSpPr/>
          <p:nvPr/>
        </p:nvSpPr>
        <p:spPr>
          <a:xfrm>
            <a:off x="655290" y="4176564"/>
            <a:ext cx="3611910" cy="3289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96"/>
              </a:lnSpc>
              <a:buNone/>
            </a:pPr>
            <a:endParaRPr lang="en-US" sz="864" dirty="0"/>
          </a:p>
        </p:txBody>
      </p:sp>
      <p:sp>
        <p:nvSpPr>
          <p:cNvPr id="33" name="Text 31"/>
          <p:cNvSpPr/>
          <p:nvPr/>
        </p:nvSpPr>
        <p:spPr>
          <a:xfrm>
            <a:off x="4846141" y="1651248"/>
            <a:ext cx="3746540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40"/>
              </a:lnSpc>
              <a:buNone/>
            </a:pPr>
            <a:r>
              <a:rPr lang="en-US" sz="960" b="1" dirty="0">
                <a:solidFill>
                  <a:srgbClr val="E6EDF3"/>
                </a:solidFill>
                <a:ea typeface="ui-sans-serif" pitchFamily="34" charset="-122"/>
                <a:cs typeface="ui-sans-serif" pitchFamily="34" charset="-120"/>
              </a:rPr>
              <a:t>Shipping Cost by Carrier</a:t>
            </a:r>
            <a:endParaRPr lang="en-US" sz="960" dirty="0"/>
          </a:p>
        </p:txBody>
      </p:sp>
      <p:sp>
        <p:nvSpPr>
          <p:cNvPr id="34" name="Text 32"/>
          <p:cNvSpPr/>
          <p:nvPr/>
        </p:nvSpPr>
        <p:spPr>
          <a:xfrm>
            <a:off x="4846141" y="1955899"/>
            <a:ext cx="522512" cy="1736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68"/>
              </a:lnSpc>
              <a:buNone/>
            </a:pPr>
            <a:r>
              <a:rPr lang="en-US" sz="912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Carrier B</a:t>
            </a:r>
            <a:endParaRPr lang="en-US" sz="912" dirty="0"/>
          </a:p>
        </p:txBody>
      </p:sp>
      <p:sp>
        <p:nvSpPr>
          <p:cNvPr id="35" name="Text 33"/>
          <p:cNvSpPr/>
          <p:nvPr/>
        </p:nvSpPr>
        <p:spPr>
          <a:xfrm>
            <a:off x="7770168" y="1955899"/>
            <a:ext cx="764033" cy="1736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68"/>
              </a:lnSpc>
              <a:buNone/>
            </a:pPr>
            <a:r>
              <a:rPr lang="en-US" sz="912" dirty="0">
                <a:solidFill>
                  <a:srgbClr val="F8717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Costliest mix</a:t>
            </a:r>
            <a:endParaRPr lang="en-US" sz="912" dirty="0"/>
          </a:p>
        </p:txBody>
      </p:sp>
      <p:sp>
        <p:nvSpPr>
          <p:cNvPr id="36" name="Text 34"/>
          <p:cNvSpPr/>
          <p:nvPr/>
        </p:nvSpPr>
        <p:spPr>
          <a:xfrm>
            <a:off x="4846141" y="2253407"/>
            <a:ext cx="777544" cy="1486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170"/>
              </a:lnSpc>
              <a:buNone/>
            </a:pPr>
            <a:r>
              <a:rPr lang="en-US" sz="780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Cosmetics 73</a:t>
            </a:r>
            <a:endParaRPr lang="en-US" sz="780" dirty="0"/>
          </a:p>
        </p:txBody>
      </p:sp>
      <p:sp>
        <p:nvSpPr>
          <p:cNvPr id="37" name="Text 35"/>
          <p:cNvSpPr/>
          <p:nvPr/>
        </p:nvSpPr>
        <p:spPr>
          <a:xfrm>
            <a:off x="6089005" y="2245924"/>
            <a:ext cx="680389" cy="1486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170"/>
              </a:lnSpc>
              <a:buNone/>
            </a:pPr>
            <a:r>
              <a:rPr lang="en-US" sz="780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Haircare 106</a:t>
            </a:r>
            <a:endParaRPr lang="en-US" sz="780" dirty="0"/>
          </a:p>
        </p:txBody>
      </p:sp>
      <p:sp>
        <p:nvSpPr>
          <p:cNvPr id="38" name="Text 36"/>
          <p:cNvSpPr/>
          <p:nvPr/>
        </p:nvSpPr>
        <p:spPr>
          <a:xfrm>
            <a:off x="7530715" y="2243964"/>
            <a:ext cx="689801" cy="1486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170"/>
              </a:lnSpc>
              <a:buNone/>
            </a:pPr>
            <a:r>
              <a:rPr lang="en-US" sz="780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Skincare 58</a:t>
            </a:r>
            <a:endParaRPr lang="en-US" sz="780" dirty="0"/>
          </a:p>
        </p:txBody>
      </p:sp>
      <p:sp>
        <p:nvSpPr>
          <p:cNvPr id="39" name="Text 37"/>
          <p:cNvSpPr/>
          <p:nvPr/>
        </p:nvSpPr>
        <p:spPr>
          <a:xfrm>
            <a:off x="4846141" y="2478286"/>
            <a:ext cx="524030" cy="1736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68"/>
              </a:lnSpc>
              <a:buNone/>
            </a:pPr>
            <a:r>
              <a:rPr lang="en-US" sz="912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Carrier C</a:t>
            </a:r>
            <a:endParaRPr lang="en-US" sz="912" dirty="0"/>
          </a:p>
        </p:txBody>
      </p:sp>
      <p:sp>
        <p:nvSpPr>
          <p:cNvPr id="40" name="Text 38"/>
          <p:cNvSpPr/>
          <p:nvPr/>
        </p:nvSpPr>
        <p:spPr>
          <a:xfrm>
            <a:off x="8177361" y="2478286"/>
            <a:ext cx="348695" cy="1736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68"/>
              </a:lnSpc>
              <a:buNone/>
            </a:pPr>
            <a:r>
              <a:rPr lang="en-US" sz="912" dirty="0">
                <a:solidFill>
                  <a:srgbClr val="FBBF24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Mixed</a:t>
            </a:r>
            <a:endParaRPr lang="en-US" sz="912" dirty="0"/>
          </a:p>
        </p:txBody>
      </p:sp>
      <p:sp>
        <p:nvSpPr>
          <p:cNvPr id="41" name="Text 39"/>
          <p:cNvSpPr/>
          <p:nvPr/>
        </p:nvSpPr>
        <p:spPr>
          <a:xfrm>
            <a:off x="4846141" y="2832943"/>
            <a:ext cx="522360" cy="1736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68"/>
              </a:lnSpc>
              <a:buNone/>
            </a:pPr>
            <a:r>
              <a:rPr lang="en-US" sz="912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Carrier A</a:t>
            </a:r>
            <a:endParaRPr lang="en-US" sz="912" dirty="0"/>
          </a:p>
        </p:txBody>
      </p:sp>
      <p:sp>
        <p:nvSpPr>
          <p:cNvPr id="42" name="Text 40"/>
          <p:cNvSpPr/>
          <p:nvPr/>
        </p:nvSpPr>
        <p:spPr>
          <a:xfrm>
            <a:off x="7909620" y="2832943"/>
            <a:ext cx="621792" cy="1736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68"/>
              </a:lnSpc>
              <a:buNone/>
            </a:pPr>
            <a:r>
              <a:rPr lang="en-US" sz="912" dirty="0">
                <a:solidFill>
                  <a:srgbClr val="4ADE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Best value</a:t>
            </a:r>
            <a:endParaRPr lang="en-US" sz="912" dirty="0"/>
          </a:p>
        </p:txBody>
      </p:sp>
      <p:sp>
        <p:nvSpPr>
          <p:cNvPr id="43" name="Text 41"/>
          <p:cNvSpPr/>
          <p:nvPr/>
        </p:nvSpPr>
        <p:spPr>
          <a:xfrm>
            <a:off x="4825157" y="3562647"/>
            <a:ext cx="3789349" cy="7078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🏙️ Location Insight</a:t>
            </a:r>
          </a:p>
          <a:p>
            <a:pPr algn="just">
              <a:lnSpc>
                <a:spcPts val="1350"/>
              </a:lnSpc>
            </a:pPr>
            <a:r>
              <a:rPr lang="en-US" sz="800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Consolidating operations toward Mumbai, Delhi, and Bangalore could reduce unit manufacturing costs significantly, while avoiding Chennai for high-volume production</a:t>
            </a:r>
          </a:p>
          <a:p>
            <a:pPr marL="0" indent="0">
              <a:lnSpc>
                <a:spcPts val="1350"/>
              </a:lnSpc>
              <a:buNone/>
            </a:pPr>
            <a:endParaRPr lang="en-US" sz="900" dirty="0"/>
          </a:p>
        </p:txBody>
      </p:sp>
      <p:sp>
        <p:nvSpPr>
          <p:cNvPr id="2" name="Text 34">
            <a:extLst>
              <a:ext uri="{FF2B5EF4-FFF2-40B4-BE49-F238E27FC236}">
                <a16:creationId xmlns:a16="http://schemas.microsoft.com/office/drawing/2014/main" id="{BAED5638-7F31-CEF7-A1DC-425B9BADDA40}"/>
              </a:ext>
            </a:extLst>
          </p:cNvPr>
          <p:cNvSpPr/>
          <p:nvPr/>
        </p:nvSpPr>
        <p:spPr>
          <a:xfrm>
            <a:off x="5267394" y="2709416"/>
            <a:ext cx="777544" cy="1486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170"/>
              </a:lnSpc>
              <a:buNone/>
            </a:pPr>
            <a:r>
              <a:rPr lang="en-US" sz="780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Cosmetics 56</a:t>
            </a:r>
            <a:endParaRPr lang="en-US" sz="780" dirty="0"/>
          </a:p>
        </p:txBody>
      </p:sp>
      <p:sp>
        <p:nvSpPr>
          <p:cNvPr id="3" name="Text 34">
            <a:extLst>
              <a:ext uri="{FF2B5EF4-FFF2-40B4-BE49-F238E27FC236}">
                <a16:creationId xmlns:a16="http://schemas.microsoft.com/office/drawing/2014/main" id="{50E55D95-0F68-2688-F155-85278DC568AF}"/>
              </a:ext>
            </a:extLst>
          </p:cNvPr>
          <p:cNvSpPr/>
          <p:nvPr/>
        </p:nvSpPr>
        <p:spPr>
          <a:xfrm>
            <a:off x="4922276" y="3082825"/>
            <a:ext cx="777544" cy="1486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170"/>
              </a:lnSpc>
              <a:buNone/>
            </a:pPr>
            <a:r>
              <a:rPr lang="en-US" sz="780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Cosmetics 29</a:t>
            </a:r>
            <a:endParaRPr lang="en-US" sz="780" dirty="0"/>
          </a:p>
        </p:txBody>
      </p:sp>
      <p:sp>
        <p:nvSpPr>
          <p:cNvPr id="5" name="Text 35">
            <a:extLst>
              <a:ext uri="{FF2B5EF4-FFF2-40B4-BE49-F238E27FC236}">
                <a16:creationId xmlns:a16="http://schemas.microsoft.com/office/drawing/2014/main" id="{0B1441BC-9DD1-9B10-1E78-B2B99CEE01C2}"/>
              </a:ext>
            </a:extLst>
          </p:cNvPr>
          <p:cNvSpPr/>
          <p:nvPr/>
        </p:nvSpPr>
        <p:spPr>
          <a:xfrm>
            <a:off x="6310663" y="2740157"/>
            <a:ext cx="680389" cy="1486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170"/>
              </a:lnSpc>
              <a:buNone/>
            </a:pPr>
            <a:r>
              <a:rPr lang="en-US" sz="780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Haircare 39</a:t>
            </a:r>
            <a:endParaRPr lang="en-US" sz="780" dirty="0"/>
          </a:p>
        </p:txBody>
      </p:sp>
      <p:sp>
        <p:nvSpPr>
          <p:cNvPr id="6" name="Text 35">
            <a:extLst>
              <a:ext uri="{FF2B5EF4-FFF2-40B4-BE49-F238E27FC236}">
                <a16:creationId xmlns:a16="http://schemas.microsoft.com/office/drawing/2014/main" id="{73F805CC-6885-0265-B887-2CAD75402F57}"/>
              </a:ext>
            </a:extLst>
          </p:cNvPr>
          <p:cNvSpPr/>
          <p:nvPr/>
        </p:nvSpPr>
        <p:spPr>
          <a:xfrm>
            <a:off x="5988993" y="3108136"/>
            <a:ext cx="680389" cy="1486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170"/>
              </a:lnSpc>
              <a:buNone/>
            </a:pPr>
            <a:r>
              <a:rPr lang="en-US" sz="780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Haircare 56</a:t>
            </a:r>
            <a:endParaRPr lang="en-US" sz="780" dirty="0"/>
          </a:p>
        </p:txBody>
      </p:sp>
      <p:sp>
        <p:nvSpPr>
          <p:cNvPr id="7" name="Text 36">
            <a:extLst>
              <a:ext uri="{FF2B5EF4-FFF2-40B4-BE49-F238E27FC236}">
                <a16:creationId xmlns:a16="http://schemas.microsoft.com/office/drawing/2014/main" id="{A48C8CFF-2114-2C6E-12C5-087D60C27B2A}"/>
              </a:ext>
            </a:extLst>
          </p:cNvPr>
          <p:cNvSpPr/>
          <p:nvPr/>
        </p:nvSpPr>
        <p:spPr>
          <a:xfrm>
            <a:off x="7345792" y="2728093"/>
            <a:ext cx="689801" cy="1486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170"/>
              </a:lnSpc>
              <a:buNone/>
            </a:pPr>
            <a:r>
              <a:rPr lang="en-US" sz="780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Skincare 67</a:t>
            </a:r>
            <a:endParaRPr lang="en-US" sz="780" dirty="0"/>
          </a:p>
        </p:txBody>
      </p:sp>
      <p:sp>
        <p:nvSpPr>
          <p:cNvPr id="29" name="Text 36">
            <a:extLst>
              <a:ext uri="{FF2B5EF4-FFF2-40B4-BE49-F238E27FC236}">
                <a16:creationId xmlns:a16="http://schemas.microsoft.com/office/drawing/2014/main" id="{74A88C3A-ADB4-7733-D7E2-6F83C2A6F1B7}"/>
              </a:ext>
            </a:extLst>
          </p:cNvPr>
          <p:cNvSpPr/>
          <p:nvPr/>
        </p:nvSpPr>
        <p:spPr>
          <a:xfrm>
            <a:off x="7428452" y="3080891"/>
            <a:ext cx="689801" cy="1486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170"/>
              </a:lnSpc>
              <a:buNone/>
            </a:pPr>
            <a:r>
              <a:rPr lang="en-US" sz="780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Skincare 71</a:t>
            </a:r>
            <a:endParaRPr lang="en-US" sz="780" dirty="0"/>
          </a:p>
        </p:txBody>
      </p:sp>
      <p:sp>
        <p:nvSpPr>
          <p:cNvPr id="45" name="Text 0">
            <a:extLst>
              <a:ext uri="{FF2B5EF4-FFF2-40B4-BE49-F238E27FC236}">
                <a16:creationId xmlns:a16="http://schemas.microsoft.com/office/drawing/2014/main" id="{A6ED2751-BCA4-6110-A863-87E80F9F48F7}"/>
              </a:ext>
            </a:extLst>
          </p:cNvPr>
          <p:cNvSpPr/>
          <p:nvPr/>
        </p:nvSpPr>
        <p:spPr>
          <a:xfrm>
            <a:off x="36127" y="1279327"/>
            <a:ext cx="4262066" cy="3806295"/>
          </a:xfrm>
          <a:prstGeom prst="roundRect">
            <a:avLst>
              <a:gd name="adj" fmla="val 34299"/>
            </a:avLst>
          </a:prstGeom>
          <a:solidFill>
            <a:srgbClr val="1A1A2E">
              <a:alpha val="80000"/>
            </a:srgbClr>
          </a:solidFill>
          <a:ln w="6350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6" name="Text 31">
            <a:extLst>
              <a:ext uri="{FF2B5EF4-FFF2-40B4-BE49-F238E27FC236}">
                <a16:creationId xmlns:a16="http://schemas.microsoft.com/office/drawing/2014/main" id="{61C39DA2-C110-2653-6F26-1FA9EE34E575}"/>
              </a:ext>
            </a:extLst>
          </p:cNvPr>
          <p:cNvSpPr/>
          <p:nvPr/>
        </p:nvSpPr>
        <p:spPr>
          <a:xfrm>
            <a:off x="457200" y="1760598"/>
            <a:ext cx="3746540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440"/>
              </a:lnSpc>
            </a:pPr>
            <a:r>
              <a:rPr lang="en-IN" sz="1100" dirty="0">
                <a:solidFill>
                  <a:schemeClr val="bg1"/>
                </a:solidFill>
              </a:rPr>
              <a:t>Routes &amp; Cost Analysis by Location(₹)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49" name="Text 31">
            <a:extLst>
              <a:ext uri="{FF2B5EF4-FFF2-40B4-BE49-F238E27FC236}">
                <a16:creationId xmlns:a16="http://schemas.microsoft.com/office/drawing/2014/main" id="{344DCAA0-1F4B-A446-09A3-7D413EEE59C9}"/>
              </a:ext>
            </a:extLst>
          </p:cNvPr>
          <p:cNvSpPr/>
          <p:nvPr/>
        </p:nvSpPr>
        <p:spPr>
          <a:xfrm>
            <a:off x="318421" y="2108299"/>
            <a:ext cx="3746540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440"/>
              </a:lnSpc>
            </a:pPr>
            <a:r>
              <a:rPr lang="en-IN" sz="1100" dirty="0">
                <a:solidFill>
                  <a:schemeClr val="bg1"/>
                </a:solidFill>
              </a:rPr>
              <a:t>Delhi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50" name="Text 31">
            <a:extLst>
              <a:ext uri="{FF2B5EF4-FFF2-40B4-BE49-F238E27FC236}">
                <a16:creationId xmlns:a16="http://schemas.microsoft.com/office/drawing/2014/main" id="{3F1641D1-594C-3DA1-2ABF-6004AB0C34B2}"/>
              </a:ext>
            </a:extLst>
          </p:cNvPr>
          <p:cNvSpPr/>
          <p:nvPr/>
        </p:nvSpPr>
        <p:spPr>
          <a:xfrm>
            <a:off x="309246" y="2538710"/>
            <a:ext cx="3746540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440"/>
              </a:lnSpc>
            </a:pPr>
            <a:r>
              <a:rPr lang="en-IN" sz="1100" dirty="0">
                <a:solidFill>
                  <a:schemeClr val="bg1"/>
                </a:solidFill>
              </a:rPr>
              <a:t>Mumbai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51" name="Text 31">
            <a:extLst>
              <a:ext uri="{FF2B5EF4-FFF2-40B4-BE49-F238E27FC236}">
                <a16:creationId xmlns:a16="http://schemas.microsoft.com/office/drawing/2014/main" id="{91945298-AD96-67D7-1F6F-13AD80BF8392}"/>
              </a:ext>
            </a:extLst>
          </p:cNvPr>
          <p:cNvSpPr/>
          <p:nvPr/>
        </p:nvSpPr>
        <p:spPr>
          <a:xfrm>
            <a:off x="285007" y="3043054"/>
            <a:ext cx="3746540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440"/>
              </a:lnSpc>
            </a:pPr>
            <a:r>
              <a:rPr lang="en-IN" sz="1100" dirty="0">
                <a:solidFill>
                  <a:schemeClr val="bg1"/>
                </a:solidFill>
              </a:rPr>
              <a:t>Bangalore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52" name="Text 31">
            <a:extLst>
              <a:ext uri="{FF2B5EF4-FFF2-40B4-BE49-F238E27FC236}">
                <a16:creationId xmlns:a16="http://schemas.microsoft.com/office/drawing/2014/main" id="{32356EF1-DC7A-AFA6-C6E6-BD1CD22492B6}"/>
              </a:ext>
            </a:extLst>
          </p:cNvPr>
          <p:cNvSpPr/>
          <p:nvPr/>
        </p:nvSpPr>
        <p:spPr>
          <a:xfrm>
            <a:off x="271568" y="3548221"/>
            <a:ext cx="3746540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440"/>
              </a:lnSpc>
            </a:pPr>
            <a:r>
              <a:rPr lang="en-IN" sz="1100" dirty="0">
                <a:solidFill>
                  <a:schemeClr val="bg1"/>
                </a:solidFill>
              </a:rPr>
              <a:t>Kolkata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53" name="Text 31">
            <a:extLst>
              <a:ext uri="{FF2B5EF4-FFF2-40B4-BE49-F238E27FC236}">
                <a16:creationId xmlns:a16="http://schemas.microsoft.com/office/drawing/2014/main" id="{FD5E3369-9FBC-2708-C6E4-B2B7E23D1963}"/>
              </a:ext>
            </a:extLst>
          </p:cNvPr>
          <p:cNvSpPr/>
          <p:nvPr/>
        </p:nvSpPr>
        <p:spPr>
          <a:xfrm>
            <a:off x="309246" y="4158356"/>
            <a:ext cx="3746540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440"/>
              </a:lnSpc>
            </a:pPr>
            <a:r>
              <a:rPr lang="en-IN" sz="1100" dirty="0">
                <a:solidFill>
                  <a:schemeClr val="bg1"/>
                </a:solidFill>
              </a:rPr>
              <a:t>Chennai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D9D59140-49AF-D54B-FF58-B547780515A9}"/>
              </a:ext>
            </a:extLst>
          </p:cNvPr>
          <p:cNvSpPr/>
          <p:nvPr/>
        </p:nvSpPr>
        <p:spPr>
          <a:xfrm>
            <a:off x="286178" y="2762829"/>
            <a:ext cx="3471609" cy="110380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9F95DE7B-445B-DE36-2738-7D3037F28FC0}"/>
              </a:ext>
            </a:extLst>
          </p:cNvPr>
          <p:cNvSpPr/>
          <p:nvPr/>
        </p:nvSpPr>
        <p:spPr>
          <a:xfrm>
            <a:off x="271568" y="3299868"/>
            <a:ext cx="3471609" cy="110380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2F9682CF-8A59-117F-87A6-4513D27FB8FE}"/>
              </a:ext>
            </a:extLst>
          </p:cNvPr>
          <p:cNvSpPr/>
          <p:nvPr/>
        </p:nvSpPr>
        <p:spPr>
          <a:xfrm>
            <a:off x="271567" y="3893281"/>
            <a:ext cx="3471609" cy="110380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9FA6AF64-0786-F1FC-C9BA-B691B2AD6B0A}"/>
              </a:ext>
            </a:extLst>
          </p:cNvPr>
          <p:cNvSpPr/>
          <p:nvPr/>
        </p:nvSpPr>
        <p:spPr>
          <a:xfrm>
            <a:off x="292608" y="2381681"/>
            <a:ext cx="3471609" cy="110380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98A7C950-EA92-BA62-8AF5-A4A84F8919A7}"/>
              </a:ext>
            </a:extLst>
          </p:cNvPr>
          <p:cNvSpPr/>
          <p:nvPr/>
        </p:nvSpPr>
        <p:spPr>
          <a:xfrm>
            <a:off x="292607" y="4367787"/>
            <a:ext cx="3471609" cy="110380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 34">
            <a:extLst>
              <a:ext uri="{FF2B5EF4-FFF2-40B4-BE49-F238E27FC236}">
                <a16:creationId xmlns:a16="http://schemas.microsoft.com/office/drawing/2014/main" id="{424182F4-0EFC-B360-B0CE-A29BCFC08D71}"/>
              </a:ext>
            </a:extLst>
          </p:cNvPr>
          <p:cNvSpPr/>
          <p:nvPr/>
        </p:nvSpPr>
        <p:spPr>
          <a:xfrm>
            <a:off x="3027067" y="2141622"/>
            <a:ext cx="777544" cy="1486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170"/>
              </a:lnSpc>
            </a:pPr>
            <a:r>
              <a:rPr lang="en-IN" sz="1000" dirty="0">
                <a:solidFill>
                  <a:schemeClr val="accent6"/>
                </a:solidFill>
              </a:rPr>
              <a:t>₹ 8.2K Best</a:t>
            </a:r>
            <a:endParaRPr lang="en-US" sz="1000" dirty="0">
              <a:solidFill>
                <a:schemeClr val="accent6"/>
              </a:solidFill>
            </a:endParaRPr>
          </a:p>
        </p:txBody>
      </p:sp>
      <p:sp>
        <p:nvSpPr>
          <p:cNvPr id="44" name="Text 34">
            <a:extLst>
              <a:ext uri="{FF2B5EF4-FFF2-40B4-BE49-F238E27FC236}">
                <a16:creationId xmlns:a16="http://schemas.microsoft.com/office/drawing/2014/main" id="{A5893B5F-AA2D-FB0D-45F2-07DB93D3E235}"/>
              </a:ext>
            </a:extLst>
          </p:cNvPr>
          <p:cNvSpPr/>
          <p:nvPr/>
        </p:nvSpPr>
        <p:spPr>
          <a:xfrm>
            <a:off x="3007792" y="2582957"/>
            <a:ext cx="777544" cy="1486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170"/>
              </a:lnSpc>
            </a:pPr>
            <a:r>
              <a:rPr lang="en-IN" sz="1000" dirty="0">
                <a:solidFill>
                  <a:schemeClr val="accent6"/>
                </a:solidFill>
              </a:rPr>
              <a:t>₹ 9.3K  Good</a:t>
            </a:r>
            <a:endParaRPr lang="en-US" sz="1000" dirty="0">
              <a:solidFill>
                <a:schemeClr val="accent6"/>
              </a:solidFill>
            </a:endParaRPr>
          </a:p>
        </p:txBody>
      </p:sp>
      <p:sp>
        <p:nvSpPr>
          <p:cNvPr id="48" name="Text 34">
            <a:extLst>
              <a:ext uri="{FF2B5EF4-FFF2-40B4-BE49-F238E27FC236}">
                <a16:creationId xmlns:a16="http://schemas.microsoft.com/office/drawing/2014/main" id="{F99ED7FB-1FDB-3200-26CE-97DC2D772398}"/>
              </a:ext>
            </a:extLst>
          </p:cNvPr>
          <p:cNvSpPr/>
          <p:nvPr/>
        </p:nvSpPr>
        <p:spPr>
          <a:xfrm>
            <a:off x="2986673" y="3069637"/>
            <a:ext cx="777544" cy="1486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170"/>
              </a:lnSpc>
            </a:pPr>
            <a:r>
              <a:rPr lang="en-IN" sz="1000" dirty="0">
                <a:solidFill>
                  <a:schemeClr val="bg1"/>
                </a:solidFill>
              </a:rPr>
              <a:t>₹ 10.5K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60" name="Text 34">
            <a:extLst>
              <a:ext uri="{FF2B5EF4-FFF2-40B4-BE49-F238E27FC236}">
                <a16:creationId xmlns:a16="http://schemas.microsoft.com/office/drawing/2014/main" id="{150F9ED5-8286-442A-28D6-DE1C0AB22D0E}"/>
              </a:ext>
            </a:extLst>
          </p:cNvPr>
          <p:cNvSpPr/>
          <p:nvPr/>
        </p:nvSpPr>
        <p:spPr>
          <a:xfrm>
            <a:off x="2923820" y="4121840"/>
            <a:ext cx="777544" cy="1486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170"/>
              </a:lnSpc>
            </a:pPr>
            <a:r>
              <a:rPr lang="en-IN" sz="1000" dirty="0">
                <a:solidFill>
                  <a:srgbClr val="FF0000"/>
                </a:solidFill>
              </a:rPr>
              <a:t>₹ 12.5 Highest</a:t>
            </a:r>
            <a:endParaRPr lang="en-US" sz="1000" dirty="0">
              <a:solidFill>
                <a:srgbClr val="FF0000"/>
              </a:solidFill>
            </a:endParaRPr>
          </a:p>
        </p:txBody>
      </p:sp>
      <p:sp>
        <p:nvSpPr>
          <p:cNvPr id="61" name="Text 34">
            <a:extLst>
              <a:ext uri="{FF2B5EF4-FFF2-40B4-BE49-F238E27FC236}">
                <a16:creationId xmlns:a16="http://schemas.microsoft.com/office/drawing/2014/main" id="{01CD808F-7649-035F-0867-707A9D1E95AB}"/>
              </a:ext>
            </a:extLst>
          </p:cNvPr>
          <p:cNvSpPr/>
          <p:nvPr/>
        </p:nvSpPr>
        <p:spPr>
          <a:xfrm>
            <a:off x="2980243" y="3625982"/>
            <a:ext cx="777544" cy="1486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170"/>
              </a:lnSpc>
            </a:pPr>
            <a:r>
              <a:rPr lang="en-IN" sz="1000" dirty="0">
                <a:solidFill>
                  <a:schemeClr val="bg1"/>
                </a:solidFill>
              </a:rPr>
              <a:t>₹ 12.2K</a:t>
            </a:r>
            <a:endParaRPr lang="en-US" sz="1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" y="1443336"/>
            <a:ext cx="4738181" cy="3138636"/>
          </a:xfrm>
          <a:prstGeom prst="roundRect">
            <a:avLst>
              <a:gd name="adj" fmla="val 38786"/>
            </a:avLst>
          </a:prstGeom>
          <a:solidFill>
            <a:srgbClr val="1A1A2E">
              <a:alpha val="80000"/>
            </a:srgbClr>
          </a:solidFill>
          <a:ln w="6350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55290" y="1976586"/>
            <a:ext cx="3976241" cy="1714500"/>
          </a:xfrm>
          <a:prstGeom prst="roundRect">
            <a:avLst>
              <a:gd name="adj" fmla="val 42667"/>
            </a:avLst>
          </a:prstGeom>
          <a:solidFill>
            <a:srgbClr val="000000">
              <a:alpha val="20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525151" y="2643336"/>
            <a:ext cx="1807698" cy="1001910"/>
          </a:xfrm>
          <a:prstGeom prst="rect">
            <a:avLst/>
          </a:prstGeom>
          <a:solidFill>
            <a:srgbClr val="EF4444">
              <a:alpha val="7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251645" y="2233761"/>
            <a:ext cx="266700" cy="266700"/>
          </a:xfrm>
          <a:prstGeom prst="roundRect">
            <a:avLst>
              <a:gd name="adj" fmla="val 1714286"/>
            </a:avLst>
          </a:prstGeom>
          <a:solidFill>
            <a:srgbClr val="22C55E">
              <a:alpha val="70000"/>
            </a:srgbClr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6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S3</a:t>
            </a:r>
            <a:endParaRPr lang="en-US" sz="660" dirty="0"/>
          </a:p>
        </p:txBody>
      </p:sp>
      <p:sp>
        <p:nvSpPr>
          <p:cNvPr id="6" name="Text 4"/>
          <p:cNvSpPr/>
          <p:nvPr/>
        </p:nvSpPr>
        <p:spPr>
          <a:xfrm>
            <a:off x="1450479" y="3005286"/>
            <a:ext cx="209550" cy="209550"/>
          </a:xfrm>
          <a:prstGeom prst="roundRect">
            <a:avLst>
              <a:gd name="adj" fmla="val 2181818"/>
            </a:avLst>
          </a:prstGeom>
          <a:solidFill>
            <a:srgbClr val="1E88E5">
              <a:alpha val="70000"/>
            </a:srgbClr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6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S4</a:t>
            </a:r>
            <a:endParaRPr lang="en-US" sz="660" dirty="0"/>
          </a:p>
        </p:txBody>
      </p:sp>
      <p:sp>
        <p:nvSpPr>
          <p:cNvPr id="7" name="Text 5"/>
          <p:cNvSpPr/>
          <p:nvPr/>
        </p:nvSpPr>
        <p:spPr>
          <a:xfrm>
            <a:off x="2842171" y="2148036"/>
            <a:ext cx="323850" cy="323850"/>
          </a:xfrm>
          <a:prstGeom prst="roundRect">
            <a:avLst>
              <a:gd name="adj" fmla="val 1411765"/>
            </a:avLst>
          </a:prstGeom>
          <a:solidFill>
            <a:srgbClr val="F9A825">
              <a:alpha val="70000"/>
            </a:srgbClr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6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S5</a:t>
            </a:r>
            <a:endParaRPr lang="en-US" sz="660" dirty="0"/>
          </a:p>
        </p:txBody>
      </p:sp>
      <p:sp>
        <p:nvSpPr>
          <p:cNvPr id="8" name="Text 6"/>
          <p:cNvSpPr/>
          <p:nvPr/>
        </p:nvSpPr>
        <p:spPr>
          <a:xfrm>
            <a:off x="3041005" y="2919561"/>
            <a:ext cx="285750" cy="285750"/>
          </a:xfrm>
          <a:prstGeom prst="roundRect">
            <a:avLst>
              <a:gd name="adj" fmla="val 1600000"/>
            </a:avLst>
          </a:prstGeom>
          <a:solidFill>
            <a:srgbClr val="EF4444">
              <a:alpha val="80000"/>
            </a:srgbClr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6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S1</a:t>
            </a:r>
            <a:endParaRPr lang="en-US" sz="660" dirty="0"/>
          </a:p>
        </p:txBody>
      </p:sp>
      <p:sp>
        <p:nvSpPr>
          <p:cNvPr id="9" name="Text 7"/>
          <p:cNvSpPr/>
          <p:nvPr/>
        </p:nvSpPr>
        <p:spPr>
          <a:xfrm>
            <a:off x="3836194" y="2833836"/>
            <a:ext cx="171450" cy="171450"/>
          </a:xfrm>
          <a:prstGeom prst="roundRect">
            <a:avLst>
              <a:gd name="adj" fmla="val 2666667"/>
            </a:avLst>
          </a:prstGeom>
          <a:solidFill>
            <a:srgbClr val="E91E63">
              <a:alpha val="70000"/>
            </a:srgbClr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S2</a:t>
            </a:r>
            <a:endParaRPr lang="en-US" sz="600" dirty="0"/>
          </a:p>
        </p:txBody>
      </p:sp>
      <p:sp>
        <p:nvSpPr>
          <p:cNvPr id="10" name="Text 8"/>
          <p:cNvSpPr/>
          <p:nvPr/>
        </p:nvSpPr>
        <p:spPr>
          <a:xfrm>
            <a:off x="655290" y="3839468"/>
            <a:ext cx="76200" cy="76200"/>
          </a:xfrm>
          <a:prstGeom prst="roundRect">
            <a:avLst>
              <a:gd name="adj" fmla="val 6000000"/>
            </a:avLst>
          </a:prstGeom>
          <a:solidFill>
            <a:srgbClr val="22C55E"/>
          </a:solidFill>
          <a:ln/>
        </p:spPr>
        <p:txBody>
          <a:bodyPr wrap="none" lIns="0" tIns="0" rIns="0" bIns="0" rtlCol="0" anchor="ctr">
            <a:normAutofit fontScale="25000" lnSpcReduction="20000"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2044452" y="3839468"/>
            <a:ext cx="76200" cy="76200"/>
          </a:xfrm>
          <a:prstGeom prst="roundRect">
            <a:avLst>
              <a:gd name="adj" fmla="val 6000000"/>
            </a:avLst>
          </a:prstGeom>
          <a:solidFill>
            <a:srgbClr val="EF4444"/>
          </a:solidFill>
          <a:ln/>
        </p:spPr>
        <p:txBody>
          <a:bodyPr wrap="none" lIns="0" tIns="0" rIns="0" bIns="0" rtlCol="0" anchor="ctr">
            <a:normAutofit fontScale="25000" lnSpcReduction="20000"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55290" y="4151858"/>
            <a:ext cx="76200" cy="76200"/>
          </a:xfrm>
          <a:prstGeom prst="roundRect">
            <a:avLst>
              <a:gd name="adj" fmla="val 6000000"/>
            </a:avLst>
          </a:prstGeom>
          <a:solidFill>
            <a:srgbClr val="E91E63"/>
          </a:solidFill>
          <a:ln/>
        </p:spPr>
        <p:txBody>
          <a:bodyPr wrap="none" lIns="0" tIns="0" rIns="0" bIns="0" rtlCol="0" anchor="ctr">
            <a:normAutofit fontScale="25000" lnSpcReduction="20000"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042892" y="1443335"/>
            <a:ext cx="3643908" cy="1153567"/>
          </a:xfrm>
          <a:prstGeom prst="roundRect">
            <a:avLst>
              <a:gd name="adj" fmla="val 110974"/>
            </a:avLst>
          </a:prstGeom>
          <a:solidFill>
            <a:srgbClr val="EF4444">
              <a:alpha val="7000"/>
            </a:srgbClr>
          </a:solidFill>
          <a:ln w="9525">
            <a:solidFill>
              <a:srgbClr val="EF4444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042892" y="2733973"/>
            <a:ext cx="3643908" cy="936427"/>
          </a:xfrm>
          <a:prstGeom prst="roundRect">
            <a:avLst>
              <a:gd name="adj" fmla="val 136707"/>
            </a:avLst>
          </a:prstGeom>
          <a:solidFill>
            <a:srgbClr val="F9A825">
              <a:alpha val="7000"/>
            </a:srgbClr>
          </a:solidFill>
          <a:ln w="9525">
            <a:solidFill>
              <a:srgbClr val="F9A825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042892" y="3807470"/>
            <a:ext cx="3643908" cy="936427"/>
          </a:xfrm>
          <a:prstGeom prst="roundRect">
            <a:avLst>
              <a:gd name="adj" fmla="val 136707"/>
            </a:avLst>
          </a:prstGeom>
          <a:solidFill>
            <a:srgbClr val="22C55E">
              <a:alpha val="7000"/>
            </a:srgbClr>
          </a:solidFill>
          <a:ln w="9525">
            <a:solidFill>
              <a:srgbClr val="22C55E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57200" y="399604"/>
            <a:ext cx="8394192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40"/>
              </a:lnSpc>
              <a:buNone/>
            </a:pPr>
            <a:r>
              <a:rPr lang="en-US" sz="960" dirty="0">
                <a:solidFill>
                  <a:srgbClr val="F8717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Risk Assessment</a:t>
            </a:r>
            <a:endParaRPr lang="en-US" sz="960" dirty="0"/>
          </a:p>
        </p:txBody>
      </p:sp>
      <p:sp>
        <p:nvSpPr>
          <p:cNvPr id="17" name="Text 15"/>
          <p:cNvSpPr/>
          <p:nvPr/>
        </p:nvSpPr>
        <p:spPr>
          <a:xfrm>
            <a:off x="457200" y="658564"/>
            <a:ext cx="8394192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500"/>
              </a:lnSpc>
              <a:buNone/>
            </a:pPr>
            <a:r>
              <a:rPr lang="en-US" sz="3000" dirty="0">
                <a:solidFill>
                  <a:srgbClr val="E6EDF3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Risk Distribution: Defect × Lead Time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655290" y="1641425"/>
            <a:ext cx="4055766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40"/>
              </a:lnSpc>
              <a:buNone/>
            </a:pPr>
            <a:r>
              <a:rPr lang="en-US" sz="960" b="1" dirty="0">
                <a:solidFill>
                  <a:srgbClr val="F8717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Risk Quadrant Analysis</a:t>
            </a:r>
            <a:endParaRPr lang="en-US" sz="960" dirty="0"/>
          </a:p>
        </p:txBody>
      </p:sp>
      <p:sp>
        <p:nvSpPr>
          <p:cNvPr id="19" name="Text 17"/>
          <p:cNvSpPr/>
          <p:nvPr/>
        </p:nvSpPr>
        <p:spPr>
          <a:xfrm>
            <a:off x="655290" y="1976586"/>
            <a:ext cx="1988046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116"/>
              </a:lnSpc>
              <a:buNone/>
            </a:pPr>
            <a:r>
              <a:rPr lang="en-US" sz="744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Low Defect</a:t>
            </a:r>
            <a:endParaRPr lang="en-US" sz="744" dirty="0"/>
          </a:p>
          <a:p>
            <a:pPr marL="0" indent="0">
              <a:lnSpc>
                <a:spcPts val="1116"/>
              </a:lnSpc>
              <a:buNone/>
            </a:pPr>
            <a:r>
              <a:rPr lang="en-US" sz="744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Short Lead</a:t>
            </a:r>
            <a:endParaRPr lang="en-US" sz="744" dirty="0"/>
          </a:p>
        </p:txBody>
      </p:sp>
      <p:sp>
        <p:nvSpPr>
          <p:cNvPr id="20" name="Text 18"/>
          <p:cNvSpPr/>
          <p:nvPr/>
        </p:nvSpPr>
        <p:spPr>
          <a:xfrm>
            <a:off x="2643336" y="1976586"/>
            <a:ext cx="1988195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116"/>
              </a:lnSpc>
              <a:buNone/>
            </a:pPr>
            <a:r>
              <a:rPr lang="en-US" sz="744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High Defect</a:t>
            </a:r>
            <a:endParaRPr lang="en-US" sz="744" dirty="0"/>
          </a:p>
          <a:p>
            <a:pPr marL="0" indent="0">
              <a:lnSpc>
                <a:spcPts val="1116"/>
              </a:lnSpc>
              <a:buNone/>
            </a:pPr>
            <a:r>
              <a:rPr lang="en-US" sz="744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Short Lead</a:t>
            </a:r>
            <a:endParaRPr lang="en-US" sz="744" dirty="0"/>
          </a:p>
        </p:txBody>
      </p:sp>
      <p:sp>
        <p:nvSpPr>
          <p:cNvPr id="21" name="Text 19"/>
          <p:cNvSpPr/>
          <p:nvPr/>
        </p:nvSpPr>
        <p:spPr>
          <a:xfrm>
            <a:off x="655290" y="2833836"/>
            <a:ext cx="1988046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116"/>
              </a:lnSpc>
              <a:buNone/>
            </a:pPr>
            <a:r>
              <a:rPr lang="en-US" sz="744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Low Defect</a:t>
            </a:r>
            <a:endParaRPr lang="en-US" sz="744" dirty="0"/>
          </a:p>
          <a:p>
            <a:pPr marL="0" indent="0">
              <a:lnSpc>
                <a:spcPts val="1116"/>
              </a:lnSpc>
              <a:buNone/>
            </a:pPr>
            <a:r>
              <a:rPr lang="en-US" sz="744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Long Lead</a:t>
            </a:r>
            <a:endParaRPr lang="en-US" sz="744" dirty="0"/>
          </a:p>
        </p:txBody>
      </p:sp>
      <p:sp>
        <p:nvSpPr>
          <p:cNvPr id="22" name="Text 20"/>
          <p:cNvSpPr/>
          <p:nvPr/>
        </p:nvSpPr>
        <p:spPr>
          <a:xfrm>
            <a:off x="2643336" y="2833836"/>
            <a:ext cx="1988195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116"/>
              </a:lnSpc>
              <a:buNone/>
            </a:pPr>
            <a:r>
              <a:rPr lang="en-US" sz="744" dirty="0">
                <a:solidFill>
                  <a:srgbClr val="EF4444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⚠ High Defect</a:t>
            </a:r>
            <a:endParaRPr lang="en-US" sz="744" dirty="0"/>
          </a:p>
          <a:p>
            <a:pPr marL="0" indent="0">
              <a:lnSpc>
                <a:spcPts val="1116"/>
              </a:lnSpc>
              <a:buNone/>
            </a:pPr>
            <a:r>
              <a:rPr lang="en-US" sz="744" dirty="0">
                <a:solidFill>
                  <a:srgbClr val="EF4444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Long Lead = RISK</a:t>
            </a:r>
            <a:endParaRPr lang="en-US" sz="744" dirty="0"/>
          </a:p>
        </p:txBody>
      </p:sp>
      <p:sp>
        <p:nvSpPr>
          <p:cNvPr id="23" name="Text 21"/>
          <p:cNvSpPr/>
          <p:nvPr/>
        </p:nvSpPr>
        <p:spPr>
          <a:xfrm>
            <a:off x="777984" y="3797647"/>
            <a:ext cx="126149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60"/>
              </a:lnSpc>
              <a:buNone/>
            </a:pPr>
            <a:r>
              <a:rPr lang="en-US" sz="840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Supplier 3 (Low Risk)</a:t>
            </a:r>
            <a:endParaRPr lang="en-US" sz="840" dirty="0"/>
          </a:p>
        </p:txBody>
      </p:sp>
      <p:sp>
        <p:nvSpPr>
          <p:cNvPr id="24" name="Text 22"/>
          <p:cNvSpPr/>
          <p:nvPr/>
        </p:nvSpPr>
        <p:spPr>
          <a:xfrm>
            <a:off x="2177965" y="3791622"/>
            <a:ext cx="129717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60"/>
              </a:lnSpc>
              <a:buNone/>
            </a:pPr>
            <a:r>
              <a:rPr lang="en-US" sz="840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Supplier 1 (High Risk)</a:t>
            </a:r>
            <a:endParaRPr lang="en-US" sz="840" dirty="0"/>
          </a:p>
        </p:txBody>
      </p:sp>
      <p:sp>
        <p:nvSpPr>
          <p:cNvPr id="25" name="Text 23"/>
          <p:cNvSpPr/>
          <p:nvPr/>
        </p:nvSpPr>
        <p:spPr>
          <a:xfrm>
            <a:off x="786722" y="4110038"/>
            <a:ext cx="146324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60"/>
              </a:lnSpc>
              <a:buNone/>
            </a:pPr>
            <a:r>
              <a:rPr lang="en-US" sz="840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Supplier 2 (Highest Risk)</a:t>
            </a:r>
            <a:endParaRPr lang="en-US" sz="840" dirty="0"/>
          </a:p>
        </p:txBody>
      </p:sp>
      <p:sp>
        <p:nvSpPr>
          <p:cNvPr id="26" name="Text 24"/>
          <p:cNvSpPr/>
          <p:nvPr/>
        </p:nvSpPr>
        <p:spPr>
          <a:xfrm>
            <a:off x="5204817" y="1605260"/>
            <a:ext cx="3386459" cy="178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4"/>
              </a:lnSpc>
              <a:buNone/>
            </a:pPr>
            <a:r>
              <a:rPr lang="en-US" sz="936" b="1" dirty="0">
                <a:solidFill>
                  <a:srgbClr val="F8717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🔴 High Risk Suppliers</a:t>
            </a:r>
            <a:endParaRPr lang="en-US" sz="936" dirty="0"/>
          </a:p>
        </p:txBody>
      </p:sp>
      <p:sp>
        <p:nvSpPr>
          <p:cNvPr id="27" name="Text 25"/>
          <p:cNvSpPr/>
          <p:nvPr/>
        </p:nvSpPr>
        <p:spPr>
          <a:xfrm>
            <a:off x="5204817" y="1874937"/>
            <a:ext cx="332005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5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• </a:t>
            </a:r>
            <a:r>
              <a:rPr lang="en-US" sz="900" b="1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Supplier 1 &amp; 2:</a:t>
            </a:r>
            <a:r>
              <a:rPr lang="en-US" sz="900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High defect + long lead time — dual risk exposure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204817" y="2263527"/>
            <a:ext cx="338645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5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• </a:t>
            </a:r>
            <a:r>
              <a:rPr lang="en-US" sz="900" b="1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Supplier 2:</a:t>
            </a:r>
            <a:r>
              <a:rPr lang="en-US" sz="900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Defect rate 51.98 — worst in category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204817" y="2895898"/>
            <a:ext cx="3386459" cy="178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4"/>
              </a:lnSpc>
              <a:buNone/>
            </a:pPr>
            <a:r>
              <a:rPr lang="en-US" sz="936" b="1" dirty="0">
                <a:solidFill>
                  <a:srgbClr val="FBBF24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🟡 Medium Risk Suppliers</a:t>
            </a:r>
            <a:endParaRPr lang="en-US" sz="936" dirty="0"/>
          </a:p>
        </p:txBody>
      </p:sp>
      <p:sp>
        <p:nvSpPr>
          <p:cNvPr id="30" name="Text 28"/>
          <p:cNvSpPr/>
          <p:nvPr/>
        </p:nvSpPr>
        <p:spPr>
          <a:xfrm>
            <a:off x="5204817" y="3165574"/>
            <a:ext cx="332005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5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• </a:t>
            </a:r>
            <a:r>
              <a:rPr lang="en-US" sz="900" b="1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Supplier 4 &amp; 5:</a:t>
            </a:r>
            <a:r>
              <a:rPr lang="en-US" sz="900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Moderate defects, manageable lead times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204817" y="3969395"/>
            <a:ext cx="3386459" cy="178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4"/>
              </a:lnSpc>
              <a:buNone/>
            </a:pPr>
            <a:r>
              <a:rPr lang="en-US" sz="936" b="1" dirty="0">
                <a:solidFill>
                  <a:srgbClr val="4ADE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🟢 Low Risk Supplier</a:t>
            </a:r>
            <a:endParaRPr lang="en-US" sz="936" dirty="0"/>
          </a:p>
        </p:txBody>
      </p:sp>
      <p:sp>
        <p:nvSpPr>
          <p:cNvPr id="32" name="Text 30"/>
          <p:cNvSpPr/>
          <p:nvPr/>
        </p:nvSpPr>
        <p:spPr>
          <a:xfrm>
            <a:off x="5204817" y="4239071"/>
            <a:ext cx="332005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5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• </a:t>
            </a:r>
            <a:r>
              <a:rPr lang="en-US" sz="900" b="1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Supplier 3:</a:t>
            </a:r>
            <a:r>
              <a:rPr lang="en-US" sz="900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Lowest defect total (36.95), lowest lead time (302 days)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6523" y="1114870"/>
            <a:ext cx="4148767" cy="3820419"/>
          </a:xfrm>
          <a:prstGeom prst="roundRect">
            <a:avLst>
              <a:gd name="adj" fmla="val 34755"/>
            </a:avLst>
          </a:prstGeom>
          <a:solidFill>
            <a:srgbClr val="1A1A2E">
              <a:alpha val="80000"/>
            </a:srgbClr>
          </a:solidFill>
          <a:ln w="6350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55290" y="1785193"/>
            <a:ext cx="1752600" cy="1197322"/>
          </a:xfrm>
          <a:prstGeom prst="roundRect">
            <a:avLst>
              <a:gd name="adj" fmla="val 76370"/>
            </a:avLst>
          </a:prstGeom>
          <a:solidFill>
            <a:srgbClr val="1E88E5">
              <a:alpha val="10000"/>
            </a:srgbClr>
          </a:solidFill>
          <a:ln w="9525">
            <a:solidFill>
              <a:srgbClr val="1E88E5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514451" y="1785193"/>
            <a:ext cx="1752749" cy="1197322"/>
          </a:xfrm>
          <a:prstGeom prst="roundRect">
            <a:avLst>
              <a:gd name="adj" fmla="val 76370"/>
            </a:avLst>
          </a:prstGeom>
          <a:solidFill>
            <a:srgbClr val="F9A825">
              <a:alpha val="10000"/>
            </a:srgbClr>
          </a:solidFill>
          <a:ln w="9525">
            <a:solidFill>
              <a:srgbClr val="F9A825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55290" y="3089077"/>
            <a:ext cx="1752600" cy="1197322"/>
          </a:xfrm>
          <a:prstGeom prst="roundRect">
            <a:avLst>
              <a:gd name="adj" fmla="val 76370"/>
            </a:avLst>
          </a:prstGeom>
          <a:solidFill>
            <a:srgbClr val="00BCD4">
              <a:alpha val="10000"/>
            </a:srgbClr>
          </a:solidFill>
          <a:ln w="9525">
            <a:solidFill>
              <a:srgbClr val="00BCD4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2514451" y="3089077"/>
            <a:ext cx="1752749" cy="1197322"/>
          </a:xfrm>
          <a:prstGeom prst="roundRect">
            <a:avLst>
              <a:gd name="adj" fmla="val 76370"/>
            </a:avLst>
          </a:prstGeom>
          <a:solidFill>
            <a:srgbClr val="22C55E">
              <a:alpha val="10000"/>
            </a:srgbClr>
          </a:solidFill>
          <a:ln w="9525">
            <a:solidFill>
              <a:srgbClr val="22C55E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581806" y="1251942"/>
            <a:ext cx="4148767" cy="1968550"/>
          </a:xfrm>
          <a:prstGeom prst="roundRect">
            <a:avLst>
              <a:gd name="adj" fmla="val 70859"/>
            </a:avLst>
          </a:prstGeom>
          <a:solidFill>
            <a:srgbClr val="1A1A2E">
              <a:alpha val="80000"/>
            </a:srgbClr>
          </a:solidFill>
          <a:ln w="6350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846141" y="1708845"/>
            <a:ext cx="3673078" cy="249882"/>
          </a:xfrm>
          <a:prstGeom prst="roundRect">
            <a:avLst>
              <a:gd name="adj" fmla="val 219560"/>
            </a:avLst>
          </a:prstGeom>
          <a:solidFill>
            <a:srgbClr val="22C55E">
              <a:alpha val="8000"/>
            </a:srgbClr>
          </a:solidFill>
          <a:ln/>
        </p:spPr>
        <p:txBody>
          <a:bodyPr wrap="none" lIns="0" tIns="0" rIns="0" bIns="0" rtlCol="0" anchor="ctr">
            <a:normAutofit fontScale="77500" lnSpcReduction="20000"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846141" y="2019598"/>
            <a:ext cx="3673078" cy="249882"/>
          </a:xfrm>
          <a:prstGeom prst="roundRect">
            <a:avLst>
              <a:gd name="adj" fmla="val 219560"/>
            </a:avLst>
          </a:prstGeom>
          <a:solidFill>
            <a:srgbClr val="22C55E">
              <a:alpha val="8000"/>
            </a:srgbClr>
          </a:solidFill>
          <a:ln/>
        </p:spPr>
        <p:txBody>
          <a:bodyPr wrap="none" lIns="0" tIns="0" rIns="0" bIns="0" rtlCol="0" anchor="ctr">
            <a:normAutofit fontScale="77500" lnSpcReduction="20000"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846141" y="2330351"/>
            <a:ext cx="3673078" cy="249882"/>
          </a:xfrm>
          <a:prstGeom prst="roundRect">
            <a:avLst>
              <a:gd name="adj" fmla="val 219560"/>
            </a:avLst>
          </a:prstGeom>
          <a:solidFill>
            <a:srgbClr val="F9A825">
              <a:alpha val="7000"/>
            </a:srgbClr>
          </a:solidFill>
          <a:ln/>
        </p:spPr>
        <p:txBody>
          <a:bodyPr wrap="none" lIns="0" tIns="0" rIns="0" bIns="0" rtlCol="0" anchor="ctr">
            <a:normAutofit fontScale="77500" lnSpcReduction="20000"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846141" y="2641104"/>
            <a:ext cx="3673078" cy="249882"/>
          </a:xfrm>
          <a:prstGeom prst="roundRect">
            <a:avLst>
              <a:gd name="adj" fmla="val 219560"/>
            </a:avLst>
          </a:prstGeom>
          <a:solidFill>
            <a:srgbClr val="EF4444">
              <a:alpha val="7000"/>
            </a:srgbClr>
          </a:solidFill>
          <a:ln/>
        </p:spPr>
        <p:txBody>
          <a:bodyPr wrap="none" lIns="0" tIns="0" rIns="0" bIns="0" rtlCol="0" anchor="ctr">
            <a:normAutofit fontScale="77500" lnSpcReduction="20000"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596705" y="3517627"/>
            <a:ext cx="4008239" cy="1024682"/>
          </a:xfrm>
          <a:prstGeom prst="roundRect">
            <a:avLst>
              <a:gd name="adj" fmla="val 107085"/>
            </a:avLst>
          </a:prstGeom>
          <a:solidFill>
            <a:srgbClr val="1E88E5">
              <a:alpha val="7000"/>
            </a:srgbClr>
          </a:solidFill>
          <a:ln w="9525">
            <a:solidFill>
              <a:srgbClr val="1E88E5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57200" y="208211"/>
            <a:ext cx="8394192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40"/>
              </a:lnSpc>
              <a:buNone/>
            </a:pPr>
            <a:r>
              <a:rPr lang="en-US" sz="960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Logistics</a:t>
            </a:r>
            <a:endParaRPr lang="en-US" sz="960" dirty="0"/>
          </a:p>
        </p:txBody>
      </p:sp>
      <p:sp>
        <p:nvSpPr>
          <p:cNvPr id="14" name="Text 12"/>
          <p:cNvSpPr/>
          <p:nvPr/>
        </p:nvSpPr>
        <p:spPr>
          <a:xfrm>
            <a:off x="469812" y="467171"/>
            <a:ext cx="8394192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500"/>
              </a:lnSpc>
              <a:buNone/>
            </a:pPr>
            <a:r>
              <a:rPr lang="en-US" sz="3000" dirty="0">
                <a:solidFill>
                  <a:srgbClr val="E6EDF3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Transportation Mode &amp; Route Analysis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771808" y="1450032"/>
            <a:ext cx="3684148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40"/>
              </a:lnSpc>
              <a:buNone/>
            </a:pPr>
            <a:r>
              <a:rPr lang="en-US" sz="960" b="1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Transportation Mode Split (AVG Order Quantities)</a:t>
            </a:r>
            <a:endParaRPr lang="en-US" sz="960" dirty="0"/>
          </a:p>
        </p:txBody>
      </p:sp>
      <p:sp>
        <p:nvSpPr>
          <p:cNvPr id="16" name="Text 14"/>
          <p:cNvSpPr/>
          <p:nvPr/>
        </p:nvSpPr>
        <p:spPr>
          <a:xfrm>
            <a:off x="771808" y="1916609"/>
            <a:ext cx="1519565" cy="3656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80"/>
              </a:lnSpc>
              <a:buNone/>
            </a:pPr>
            <a:r>
              <a:rPr lang="en-US" sz="1920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🛣️</a:t>
            </a:r>
            <a:endParaRPr lang="en-US" sz="1920" dirty="0"/>
          </a:p>
        </p:txBody>
      </p:sp>
      <p:sp>
        <p:nvSpPr>
          <p:cNvPr id="17" name="Text 15"/>
          <p:cNvSpPr/>
          <p:nvPr/>
        </p:nvSpPr>
        <p:spPr>
          <a:xfrm>
            <a:off x="771808" y="2327970"/>
            <a:ext cx="1519565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30"/>
              </a:lnSpc>
              <a:buNone/>
            </a:pPr>
            <a:r>
              <a:rPr lang="en-US" sz="1020" b="1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Road</a:t>
            </a:r>
            <a:endParaRPr lang="en-US" sz="1020" dirty="0"/>
          </a:p>
        </p:txBody>
      </p:sp>
      <p:sp>
        <p:nvSpPr>
          <p:cNvPr id="18" name="Text 16"/>
          <p:cNvSpPr/>
          <p:nvPr/>
        </p:nvSpPr>
        <p:spPr>
          <a:xfrm>
            <a:off x="786705" y="2522190"/>
            <a:ext cx="1489770" cy="3289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96"/>
              </a:lnSpc>
              <a:buNone/>
            </a:pPr>
            <a:r>
              <a:rPr lang="en-US" sz="864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AVG 48K shipments</a:t>
            </a:r>
            <a:endParaRPr lang="en-US" sz="864" dirty="0"/>
          </a:p>
          <a:p>
            <a:pPr marL="0" indent="0" algn="ctr">
              <a:lnSpc>
                <a:spcPts val="1296"/>
              </a:lnSpc>
              <a:buNone/>
            </a:pPr>
            <a:r>
              <a:rPr lang="en-US" sz="864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Lowest share</a:t>
            </a:r>
            <a:endParaRPr lang="en-US" sz="864" dirty="0"/>
          </a:p>
        </p:txBody>
      </p:sp>
      <p:sp>
        <p:nvSpPr>
          <p:cNvPr id="19" name="Text 17"/>
          <p:cNvSpPr/>
          <p:nvPr/>
        </p:nvSpPr>
        <p:spPr>
          <a:xfrm>
            <a:off x="2630967" y="1916609"/>
            <a:ext cx="1519717" cy="3656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80"/>
              </a:lnSpc>
              <a:buNone/>
            </a:pPr>
            <a:r>
              <a:rPr lang="en-US" sz="1920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✈️</a:t>
            </a:r>
            <a:endParaRPr lang="en-US" sz="1920" dirty="0"/>
          </a:p>
        </p:txBody>
      </p:sp>
      <p:sp>
        <p:nvSpPr>
          <p:cNvPr id="20" name="Text 18"/>
          <p:cNvSpPr/>
          <p:nvPr/>
        </p:nvSpPr>
        <p:spPr>
          <a:xfrm>
            <a:off x="2630967" y="2327970"/>
            <a:ext cx="1519717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30"/>
              </a:lnSpc>
              <a:buNone/>
            </a:pPr>
            <a:r>
              <a:rPr lang="en-US" sz="1020" b="1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Air</a:t>
            </a:r>
            <a:endParaRPr lang="en-US" sz="1020" dirty="0"/>
          </a:p>
        </p:txBody>
      </p:sp>
      <p:sp>
        <p:nvSpPr>
          <p:cNvPr id="21" name="Text 19"/>
          <p:cNvSpPr/>
          <p:nvPr/>
        </p:nvSpPr>
        <p:spPr>
          <a:xfrm>
            <a:off x="2645866" y="2522190"/>
            <a:ext cx="1489918" cy="3289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96"/>
              </a:lnSpc>
              <a:buNone/>
            </a:pPr>
            <a:r>
              <a:rPr lang="en-US" sz="864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AVG 52K shipments</a:t>
            </a:r>
            <a:endParaRPr lang="en-US" sz="864" dirty="0"/>
          </a:p>
          <a:p>
            <a:pPr marL="0" indent="0" algn="ctr">
              <a:lnSpc>
                <a:spcPts val="1296"/>
              </a:lnSpc>
              <a:buNone/>
            </a:pPr>
            <a:r>
              <a:rPr lang="en-US" sz="864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Highest Transportation</a:t>
            </a:r>
            <a:endParaRPr lang="en-US" sz="864" dirty="0"/>
          </a:p>
        </p:txBody>
      </p:sp>
      <p:sp>
        <p:nvSpPr>
          <p:cNvPr id="22" name="Text 20"/>
          <p:cNvSpPr/>
          <p:nvPr/>
        </p:nvSpPr>
        <p:spPr>
          <a:xfrm>
            <a:off x="771808" y="3220492"/>
            <a:ext cx="1519565" cy="3656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80"/>
              </a:lnSpc>
              <a:buNone/>
            </a:pPr>
            <a:r>
              <a:rPr lang="en-US" sz="1920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🚂</a:t>
            </a:r>
            <a:endParaRPr lang="en-US" sz="1920" dirty="0"/>
          </a:p>
        </p:txBody>
      </p:sp>
      <p:sp>
        <p:nvSpPr>
          <p:cNvPr id="23" name="Text 21"/>
          <p:cNvSpPr/>
          <p:nvPr/>
        </p:nvSpPr>
        <p:spPr>
          <a:xfrm>
            <a:off x="771808" y="3631853"/>
            <a:ext cx="1519565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30"/>
              </a:lnSpc>
              <a:buNone/>
            </a:pPr>
            <a:r>
              <a:rPr lang="en-US" sz="1020" b="1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Rail</a:t>
            </a:r>
            <a:endParaRPr lang="en-US" sz="1020" dirty="0"/>
          </a:p>
        </p:txBody>
      </p:sp>
      <p:sp>
        <p:nvSpPr>
          <p:cNvPr id="24" name="Text 22"/>
          <p:cNvSpPr/>
          <p:nvPr/>
        </p:nvSpPr>
        <p:spPr>
          <a:xfrm>
            <a:off x="786705" y="3826073"/>
            <a:ext cx="1489770" cy="3289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96"/>
              </a:lnSpc>
              <a:buNone/>
            </a:pPr>
            <a:r>
              <a:rPr lang="en-US" sz="864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AVG 48K shipments</a:t>
            </a:r>
            <a:endParaRPr lang="en-US" sz="864" dirty="0"/>
          </a:p>
          <a:p>
            <a:pPr marL="0" indent="0" algn="ctr">
              <a:lnSpc>
                <a:spcPts val="1296"/>
              </a:lnSpc>
              <a:buNone/>
            </a:pPr>
            <a:r>
              <a:rPr lang="en-US" sz="864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Mid t efficient</a:t>
            </a:r>
            <a:endParaRPr lang="en-US" sz="864" dirty="0"/>
          </a:p>
        </p:txBody>
      </p:sp>
      <p:sp>
        <p:nvSpPr>
          <p:cNvPr id="25" name="Text 23"/>
          <p:cNvSpPr/>
          <p:nvPr/>
        </p:nvSpPr>
        <p:spPr>
          <a:xfrm>
            <a:off x="2630967" y="3220492"/>
            <a:ext cx="1519717" cy="3656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80"/>
              </a:lnSpc>
              <a:buNone/>
            </a:pPr>
            <a:r>
              <a:rPr lang="en-US" sz="1920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🚢</a:t>
            </a:r>
            <a:endParaRPr lang="en-US" sz="1920" dirty="0"/>
          </a:p>
        </p:txBody>
      </p:sp>
      <p:sp>
        <p:nvSpPr>
          <p:cNvPr id="26" name="Text 24"/>
          <p:cNvSpPr/>
          <p:nvPr/>
        </p:nvSpPr>
        <p:spPr>
          <a:xfrm>
            <a:off x="2630967" y="3631853"/>
            <a:ext cx="1519717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30"/>
              </a:lnSpc>
              <a:buNone/>
            </a:pPr>
            <a:r>
              <a:rPr lang="en-US" sz="1020" b="1" dirty="0">
                <a:solidFill>
                  <a:srgbClr val="4ADE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Sea</a:t>
            </a:r>
            <a:endParaRPr lang="en-US" sz="1020" dirty="0"/>
          </a:p>
        </p:txBody>
      </p:sp>
      <p:sp>
        <p:nvSpPr>
          <p:cNvPr id="27" name="Text 25"/>
          <p:cNvSpPr/>
          <p:nvPr/>
        </p:nvSpPr>
        <p:spPr>
          <a:xfrm>
            <a:off x="2645866" y="3826073"/>
            <a:ext cx="1489918" cy="3289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96"/>
              </a:lnSpc>
              <a:buNone/>
            </a:pPr>
            <a:r>
              <a:rPr lang="en-US" sz="864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AVG 50K shipments</a:t>
            </a:r>
            <a:endParaRPr lang="en-US" sz="864" dirty="0"/>
          </a:p>
          <a:p>
            <a:pPr marL="0" indent="0" algn="ctr">
              <a:lnSpc>
                <a:spcPts val="1296"/>
              </a:lnSpc>
              <a:buNone/>
            </a:pPr>
            <a:r>
              <a:rPr lang="en-US" sz="864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Largest Quantities</a:t>
            </a:r>
            <a:endParaRPr lang="en-US" sz="864" dirty="0"/>
          </a:p>
        </p:txBody>
      </p:sp>
      <p:sp>
        <p:nvSpPr>
          <p:cNvPr id="28" name="Text 26"/>
          <p:cNvSpPr/>
          <p:nvPr/>
        </p:nvSpPr>
        <p:spPr>
          <a:xfrm>
            <a:off x="858944" y="4408289"/>
            <a:ext cx="3480494" cy="268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96"/>
              </a:lnSpc>
              <a:buNone/>
            </a:pPr>
            <a:r>
              <a:rPr lang="en-US" sz="700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All 4 modes are roughly equally distributed — unusual and potentially inefficient.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5080937" y="1441684"/>
            <a:ext cx="3746540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40"/>
              </a:lnSpc>
              <a:buNone/>
            </a:pPr>
            <a:r>
              <a:rPr lang="en-US" sz="960" b="1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Best Route × Carrier Combos</a:t>
            </a:r>
            <a:endParaRPr lang="en-US" sz="960" dirty="0"/>
          </a:p>
        </p:txBody>
      </p:sp>
      <p:sp>
        <p:nvSpPr>
          <p:cNvPr id="30" name="Text 28"/>
          <p:cNvSpPr/>
          <p:nvPr/>
        </p:nvSpPr>
        <p:spPr>
          <a:xfrm>
            <a:off x="4922341" y="1746945"/>
            <a:ext cx="1159181" cy="1736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68"/>
              </a:lnSpc>
              <a:buNone/>
            </a:pPr>
            <a:r>
              <a:rPr lang="en-US" sz="912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Route C + Carrier A</a:t>
            </a:r>
            <a:endParaRPr lang="en-US" sz="912" dirty="0"/>
          </a:p>
        </p:txBody>
      </p:sp>
      <p:sp>
        <p:nvSpPr>
          <p:cNvPr id="31" name="Text 29"/>
          <p:cNvSpPr/>
          <p:nvPr/>
        </p:nvSpPr>
        <p:spPr>
          <a:xfrm>
            <a:off x="7734598" y="1746945"/>
            <a:ext cx="722590" cy="1736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68"/>
              </a:lnSpc>
              <a:buNone/>
            </a:pPr>
            <a:r>
              <a:rPr lang="en-US" sz="912" b="1" dirty="0">
                <a:solidFill>
                  <a:srgbClr val="4ADE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10 days</a:t>
            </a:r>
            <a:endParaRPr lang="en-US" sz="912" dirty="0"/>
          </a:p>
        </p:txBody>
      </p:sp>
      <p:sp>
        <p:nvSpPr>
          <p:cNvPr id="32" name="Text 30"/>
          <p:cNvSpPr/>
          <p:nvPr/>
        </p:nvSpPr>
        <p:spPr>
          <a:xfrm>
            <a:off x="4922341" y="2057698"/>
            <a:ext cx="1157511" cy="1736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68"/>
              </a:lnSpc>
              <a:buNone/>
            </a:pPr>
            <a:r>
              <a:rPr lang="en-US" sz="912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Route A + Carrier A</a:t>
            </a:r>
            <a:endParaRPr lang="en-US" sz="912" dirty="0"/>
          </a:p>
        </p:txBody>
      </p:sp>
      <p:sp>
        <p:nvSpPr>
          <p:cNvPr id="33" name="Text 31"/>
          <p:cNvSpPr/>
          <p:nvPr/>
        </p:nvSpPr>
        <p:spPr>
          <a:xfrm>
            <a:off x="7734598" y="2057698"/>
            <a:ext cx="722590" cy="1736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68"/>
              </a:lnSpc>
              <a:buNone/>
            </a:pPr>
            <a:r>
              <a:rPr lang="en-US" sz="912" b="1" dirty="0">
                <a:solidFill>
                  <a:srgbClr val="4ADE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10 days</a:t>
            </a:r>
            <a:endParaRPr lang="en-US" sz="912" dirty="0"/>
          </a:p>
        </p:txBody>
      </p:sp>
      <p:sp>
        <p:nvSpPr>
          <p:cNvPr id="34" name="Text 32"/>
          <p:cNvSpPr/>
          <p:nvPr/>
        </p:nvSpPr>
        <p:spPr>
          <a:xfrm>
            <a:off x="4922341" y="2368451"/>
            <a:ext cx="1159484" cy="1736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68"/>
              </a:lnSpc>
              <a:buNone/>
            </a:pPr>
            <a:r>
              <a:rPr lang="en-US" sz="912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Route B + Carrier C</a:t>
            </a:r>
            <a:endParaRPr lang="en-US" sz="912" dirty="0"/>
          </a:p>
        </p:txBody>
      </p:sp>
      <p:sp>
        <p:nvSpPr>
          <p:cNvPr id="35" name="Text 33"/>
          <p:cNvSpPr/>
          <p:nvPr/>
        </p:nvSpPr>
        <p:spPr>
          <a:xfrm>
            <a:off x="7734598" y="2368451"/>
            <a:ext cx="722590" cy="1736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68"/>
              </a:lnSpc>
              <a:buNone/>
            </a:pPr>
            <a:r>
              <a:rPr lang="en-US" sz="912" b="1" dirty="0">
                <a:solidFill>
                  <a:srgbClr val="FBBF24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15 days</a:t>
            </a:r>
            <a:endParaRPr lang="en-US" sz="912" dirty="0"/>
          </a:p>
        </p:txBody>
      </p:sp>
      <p:sp>
        <p:nvSpPr>
          <p:cNvPr id="36" name="Text 34"/>
          <p:cNvSpPr/>
          <p:nvPr/>
        </p:nvSpPr>
        <p:spPr>
          <a:xfrm>
            <a:off x="4922341" y="2679204"/>
            <a:ext cx="1157814" cy="1736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68"/>
              </a:lnSpc>
              <a:buNone/>
            </a:pPr>
            <a:r>
              <a:rPr lang="en-US" sz="912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Route B + Carrier A</a:t>
            </a:r>
            <a:endParaRPr lang="en-US" sz="912" dirty="0"/>
          </a:p>
        </p:txBody>
      </p:sp>
      <p:sp>
        <p:nvSpPr>
          <p:cNvPr id="37" name="Text 35"/>
          <p:cNvSpPr/>
          <p:nvPr/>
        </p:nvSpPr>
        <p:spPr>
          <a:xfrm>
            <a:off x="7725730" y="2666033"/>
            <a:ext cx="869689" cy="1736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68"/>
              </a:lnSpc>
              <a:buNone/>
            </a:pPr>
            <a:r>
              <a:rPr lang="en-US" sz="912" b="1" dirty="0">
                <a:solidFill>
                  <a:srgbClr val="F8717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20 days ⚠</a:t>
            </a:r>
            <a:endParaRPr lang="en-US" sz="912" dirty="0"/>
          </a:p>
        </p:txBody>
      </p:sp>
      <p:sp>
        <p:nvSpPr>
          <p:cNvPr id="38" name="Text 36"/>
          <p:cNvSpPr/>
          <p:nvPr/>
        </p:nvSpPr>
        <p:spPr>
          <a:xfrm>
            <a:off x="4897452" y="3602013"/>
            <a:ext cx="3621767" cy="806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💡 Route Optimization Insight</a:t>
            </a:r>
          </a:p>
          <a:p>
            <a:pPr algn="just">
              <a:lnSpc>
                <a:spcPts val="1350"/>
              </a:lnSpc>
            </a:pPr>
            <a:r>
              <a:rPr lang="en-US" sz="800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Prioritizing Carrier A on Routes A and C reduces average lead time from 16 to 10 days — a 37.5% improvement. Avoid Route B with Carrier A entirely.</a:t>
            </a:r>
          </a:p>
          <a:p>
            <a:pPr marL="0" indent="0">
              <a:lnSpc>
                <a:spcPts val="1350"/>
              </a:lnSpc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57738"/>
            <a:ext cx="4038600" cy="2154436"/>
          </a:xfrm>
          <a:prstGeom prst="rect">
            <a:avLst/>
          </a:prstGeom>
          <a:solidFill>
            <a:srgbClr val="EF4444">
              <a:alpha val="5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0" y="757738"/>
            <a:ext cx="4038600" cy="2154436"/>
          </a:xfrm>
          <a:prstGeom prst="rect">
            <a:avLst/>
          </a:prstGeom>
          <a:solidFill>
            <a:srgbClr val="F9A825">
              <a:alpha val="5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57200" y="2972280"/>
            <a:ext cx="4038600" cy="2154436"/>
          </a:xfrm>
          <a:prstGeom prst="rect">
            <a:avLst/>
          </a:prstGeom>
          <a:solidFill>
            <a:srgbClr val="00BCD4">
              <a:alpha val="5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586654" y="2964344"/>
            <a:ext cx="4038600" cy="2154436"/>
          </a:xfrm>
          <a:prstGeom prst="rect">
            <a:avLst/>
          </a:prstGeom>
          <a:solidFill>
            <a:srgbClr val="22C55E">
              <a:alpha val="5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57200" y="-180677"/>
            <a:ext cx="8394192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40"/>
              </a:lnSpc>
              <a:buNone/>
            </a:pPr>
            <a:r>
              <a:rPr lang="en-US" sz="960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Action Plan</a:t>
            </a:r>
            <a:endParaRPr lang="en-US" sz="960" dirty="0"/>
          </a:p>
        </p:txBody>
      </p:sp>
      <p:sp>
        <p:nvSpPr>
          <p:cNvPr id="7" name="Text 5"/>
          <p:cNvSpPr/>
          <p:nvPr/>
        </p:nvSpPr>
        <p:spPr>
          <a:xfrm>
            <a:off x="457200" y="78284"/>
            <a:ext cx="8394192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500"/>
              </a:lnSpc>
              <a:buNone/>
            </a:pPr>
            <a:r>
              <a:rPr lang="en-US" sz="3000" dirty="0">
                <a:solidFill>
                  <a:srgbClr val="E6EDF3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Strategic Recommendations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38175" y="1015454"/>
            <a:ext cx="3779329" cy="1644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96"/>
              </a:lnSpc>
              <a:buNone/>
            </a:pPr>
            <a:r>
              <a:rPr lang="en-US" sz="864" b="1" dirty="0">
                <a:solidFill>
                  <a:srgbClr val="F8717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🔴 Immediate (0–30 days)</a:t>
            </a:r>
            <a:endParaRPr lang="en-US" sz="864" dirty="0"/>
          </a:p>
        </p:txBody>
      </p:sp>
      <p:sp>
        <p:nvSpPr>
          <p:cNvPr id="9" name="Text 7"/>
          <p:cNvSpPr/>
          <p:nvPr/>
        </p:nvSpPr>
        <p:spPr>
          <a:xfrm>
            <a:off x="638175" y="1256109"/>
            <a:ext cx="3705225" cy="356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4"/>
              </a:lnSpc>
              <a:buNone/>
            </a:pPr>
            <a:r>
              <a:rPr lang="en-US" sz="936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• Audit </a:t>
            </a:r>
            <a:r>
              <a:rPr lang="en-US" sz="936" b="1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Supplier 2 haircare</a:t>
            </a:r>
            <a:r>
              <a:rPr lang="en-US" sz="936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line — defect rate 24.53, highest risk</a:t>
            </a:r>
            <a:endParaRPr lang="en-US" sz="936" dirty="0"/>
          </a:p>
        </p:txBody>
      </p:sp>
      <p:sp>
        <p:nvSpPr>
          <p:cNvPr id="10" name="Text 8"/>
          <p:cNvSpPr/>
          <p:nvPr/>
        </p:nvSpPr>
        <p:spPr>
          <a:xfrm>
            <a:off x="638175" y="1673572"/>
            <a:ext cx="3779329" cy="178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4"/>
              </a:lnSpc>
              <a:buNone/>
            </a:pPr>
            <a:r>
              <a:rPr lang="en-US" sz="936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• Escalate </a:t>
            </a:r>
            <a:r>
              <a:rPr lang="en-US" sz="936" b="1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Supplier 4 haircare</a:t>
            </a:r>
            <a:r>
              <a:rPr lang="en-US" sz="936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defects (25.81) to QC team</a:t>
            </a:r>
            <a:endParaRPr lang="en-US" sz="936" dirty="0"/>
          </a:p>
        </p:txBody>
      </p:sp>
      <p:sp>
        <p:nvSpPr>
          <p:cNvPr id="11" name="Text 9"/>
          <p:cNvSpPr/>
          <p:nvPr/>
        </p:nvSpPr>
        <p:spPr>
          <a:xfrm>
            <a:off x="638175" y="1912739"/>
            <a:ext cx="3705225" cy="356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4"/>
              </a:lnSpc>
              <a:buNone/>
            </a:pPr>
            <a:r>
              <a:rPr lang="en-US" sz="936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• Clear inspection backlog: </a:t>
            </a:r>
            <a:r>
              <a:rPr lang="en-US" sz="936" b="1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41 "Pending"</a:t>
            </a:r>
            <a:r>
              <a:rPr lang="en-US" sz="936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items across all product types</a:t>
            </a:r>
            <a:endParaRPr lang="en-US" sz="936" dirty="0"/>
          </a:p>
        </p:txBody>
      </p:sp>
      <p:sp>
        <p:nvSpPr>
          <p:cNvPr id="12" name="Text 10"/>
          <p:cNvSpPr/>
          <p:nvPr/>
        </p:nvSpPr>
        <p:spPr>
          <a:xfrm>
            <a:off x="638175" y="2330202"/>
            <a:ext cx="3779329" cy="178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4"/>
              </a:lnSpc>
              <a:buNone/>
            </a:pPr>
            <a:r>
              <a:rPr lang="en-US" sz="936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• Switch all viable shipments to </a:t>
            </a:r>
            <a:r>
              <a:rPr lang="en-US" sz="936" b="1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Route A/C + Carrier A</a:t>
            </a:r>
            <a:endParaRPr lang="en-US" sz="936" dirty="0"/>
          </a:p>
        </p:txBody>
      </p:sp>
      <p:sp>
        <p:nvSpPr>
          <p:cNvPr id="13" name="Text 11"/>
          <p:cNvSpPr/>
          <p:nvPr/>
        </p:nvSpPr>
        <p:spPr>
          <a:xfrm>
            <a:off x="4792122" y="939254"/>
            <a:ext cx="3779329" cy="1644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96"/>
              </a:lnSpc>
              <a:buNone/>
            </a:pPr>
            <a:r>
              <a:rPr lang="en-US" sz="864" b="1" dirty="0">
                <a:solidFill>
                  <a:srgbClr val="FBBF24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🟡 Short-Term (30–90 days)</a:t>
            </a:r>
            <a:endParaRPr lang="en-US" sz="864" dirty="0"/>
          </a:p>
        </p:txBody>
      </p:sp>
      <p:sp>
        <p:nvSpPr>
          <p:cNvPr id="14" name="Text 12"/>
          <p:cNvSpPr/>
          <p:nvPr/>
        </p:nvSpPr>
        <p:spPr>
          <a:xfrm>
            <a:off x="4829175" y="1256109"/>
            <a:ext cx="3705225" cy="356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4"/>
              </a:lnSpc>
              <a:buNone/>
            </a:pPr>
            <a:r>
              <a:rPr lang="en-US" sz="936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• Reduce </a:t>
            </a:r>
            <a:r>
              <a:rPr lang="en-US" sz="936" b="1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Chennai production volume</a:t>
            </a:r>
            <a:r>
              <a:rPr lang="en-US" sz="936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— ₹12.5/unit vs ₹9.3 Mumbai</a:t>
            </a:r>
            <a:endParaRPr lang="en-US" sz="936" dirty="0"/>
          </a:p>
        </p:txBody>
      </p:sp>
      <p:sp>
        <p:nvSpPr>
          <p:cNvPr id="15" name="Text 13"/>
          <p:cNvSpPr/>
          <p:nvPr/>
        </p:nvSpPr>
        <p:spPr>
          <a:xfrm>
            <a:off x="4829175" y="1673572"/>
            <a:ext cx="3705225" cy="356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4"/>
              </a:lnSpc>
              <a:buNone/>
            </a:pPr>
            <a:r>
              <a:rPr lang="en-US" sz="936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• Set defect KPI targets per supplier — max 10 per product category</a:t>
            </a:r>
            <a:endParaRPr lang="en-US" sz="936" dirty="0"/>
          </a:p>
        </p:txBody>
      </p:sp>
      <p:sp>
        <p:nvSpPr>
          <p:cNvPr id="16" name="Text 14"/>
          <p:cNvSpPr/>
          <p:nvPr/>
        </p:nvSpPr>
        <p:spPr>
          <a:xfrm>
            <a:off x="4829175" y="2091035"/>
            <a:ext cx="3705225" cy="356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4"/>
              </a:lnSpc>
              <a:buNone/>
            </a:pPr>
            <a:r>
              <a:rPr lang="en-US" sz="936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• Reduce air transport dependency — shift to road/rail for non-urgent</a:t>
            </a:r>
            <a:endParaRPr lang="en-US" sz="936" dirty="0"/>
          </a:p>
        </p:txBody>
      </p:sp>
      <p:sp>
        <p:nvSpPr>
          <p:cNvPr id="17" name="Text 15"/>
          <p:cNvSpPr/>
          <p:nvPr/>
        </p:nvSpPr>
        <p:spPr>
          <a:xfrm>
            <a:off x="4829175" y="2508498"/>
            <a:ext cx="3705225" cy="356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4"/>
              </a:lnSpc>
              <a:buNone/>
            </a:pPr>
            <a:r>
              <a:rPr lang="en-US" sz="936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• Renegotiate with </a:t>
            </a:r>
            <a:r>
              <a:rPr lang="en-US" sz="936" b="1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Supplier 1</a:t>
            </a:r>
            <a:r>
              <a:rPr lang="en-US" sz="936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on lead time SLAs (504 days cumulative)</a:t>
            </a:r>
            <a:endParaRPr lang="en-US" sz="936" dirty="0"/>
          </a:p>
        </p:txBody>
      </p:sp>
      <p:sp>
        <p:nvSpPr>
          <p:cNvPr id="18" name="Text 16"/>
          <p:cNvSpPr/>
          <p:nvPr/>
        </p:nvSpPr>
        <p:spPr>
          <a:xfrm>
            <a:off x="609028" y="3119500"/>
            <a:ext cx="3808476" cy="1644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96"/>
              </a:lnSpc>
              <a:buNone/>
            </a:pPr>
            <a:r>
              <a:rPr lang="en-US" sz="864" b="1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🔵 Medium-Term (90–180 days)</a:t>
            </a:r>
            <a:endParaRPr lang="en-US" sz="864" dirty="0"/>
          </a:p>
        </p:txBody>
      </p:sp>
      <p:sp>
        <p:nvSpPr>
          <p:cNvPr id="19" name="Text 17"/>
          <p:cNvSpPr/>
          <p:nvPr/>
        </p:nvSpPr>
        <p:spPr>
          <a:xfrm>
            <a:off x="609028" y="3347209"/>
            <a:ext cx="3733800" cy="1625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4"/>
              </a:lnSpc>
              <a:buNone/>
            </a:pPr>
            <a:r>
              <a:rPr lang="en-US" sz="936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• Consolidate to </a:t>
            </a:r>
            <a:r>
              <a:rPr lang="en-US" sz="936" b="1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Supplier 3</a:t>
            </a:r>
            <a:r>
              <a:rPr lang="en-US" sz="936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for high-priority cosmetics (lowest defect: 3.87)</a:t>
            </a:r>
          </a:p>
          <a:p>
            <a:pPr marL="0" indent="0">
              <a:lnSpc>
                <a:spcPts val="1404"/>
              </a:lnSpc>
              <a:buNone/>
            </a:pPr>
            <a:endParaRPr lang="en-US" sz="936" dirty="0">
              <a:solidFill>
                <a:srgbClr val="E6EDF3"/>
              </a:solidFill>
              <a:latin typeface="ui-sans-serif" pitchFamily="34" charset="0"/>
              <a:ea typeface="ui-sans-serif" pitchFamily="34" charset="-122"/>
              <a:cs typeface="ui-sans-serif" pitchFamily="34" charset="-120"/>
            </a:endParaRPr>
          </a:p>
          <a:p>
            <a:pPr>
              <a:lnSpc>
                <a:spcPts val="1404"/>
              </a:lnSpc>
            </a:pPr>
            <a:r>
              <a:rPr lang="en-US" sz="936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• Use </a:t>
            </a:r>
            <a:r>
              <a:rPr lang="en-US" sz="936" b="1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What-If simulator</a:t>
            </a:r>
            <a:r>
              <a:rPr lang="en-US" sz="936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to model 20–30% defect reduction impact</a:t>
            </a:r>
          </a:p>
          <a:p>
            <a:pPr>
              <a:lnSpc>
                <a:spcPts val="1404"/>
              </a:lnSpc>
            </a:pPr>
            <a:endParaRPr lang="en-US" sz="936" dirty="0">
              <a:solidFill>
                <a:srgbClr val="E6EDF3"/>
              </a:solidFill>
              <a:latin typeface="ui-sans-serif" pitchFamily="34" charset="0"/>
              <a:ea typeface="ui-sans-serif" pitchFamily="34" charset="-122"/>
              <a:cs typeface="ui-sans-serif" pitchFamily="34" charset="-120"/>
            </a:endParaRPr>
          </a:p>
          <a:p>
            <a:pPr>
              <a:lnSpc>
                <a:spcPts val="1404"/>
              </a:lnSpc>
            </a:pPr>
            <a:r>
              <a:rPr lang="en-US" sz="936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• Explore </a:t>
            </a:r>
            <a:r>
              <a:rPr lang="en-US" sz="936" b="1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Supplier 3 capacity expansion</a:t>
            </a:r>
            <a:r>
              <a:rPr lang="en-US" sz="936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— only supplier with &lt;37 total defects</a:t>
            </a:r>
          </a:p>
          <a:p>
            <a:pPr>
              <a:lnSpc>
                <a:spcPts val="1404"/>
              </a:lnSpc>
            </a:pPr>
            <a:endParaRPr lang="en-US" sz="936" dirty="0">
              <a:solidFill>
                <a:srgbClr val="E6EDF3"/>
              </a:solidFill>
              <a:latin typeface="ui-sans-serif" pitchFamily="34" charset="0"/>
              <a:ea typeface="ui-sans-serif" pitchFamily="34" charset="-122"/>
            </a:endParaRPr>
          </a:p>
          <a:p>
            <a:pPr>
              <a:lnSpc>
                <a:spcPts val="1404"/>
              </a:lnSpc>
            </a:pPr>
            <a:r>
              <a:rPr lang="en-US" sz="936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• Track price vs revenue correlation more closely (linear model shows weak R²)</a:t>
            </a:r>
            <a:endParaRPr lang="en-US" sz="936" dirty="0"/>
          </a:p>
          <a:p>
            <a:pPr>
              <a:lnSpc>
                <a:spcPts val="1404"/>
              </a:lnSpc>
            </a:pPr>
            <a:endParaRPr lang="en-US" sz="936" dirty="0"/>
          </a:p>
          <a:p>
            <a:pPr>
              <a:lnSpc>
                <a:spcPts val="1404"/>
              </a:lnSpc>
            </a:pPr>
            <a:endParaRPr lang="en-US" sz="936" dirty="0">
              <a:solidFill>
                <a:srgbClr val="E6EDF3"/>
              </a:solidFill>
              <a:latin typeface="ui-sans-serif" pitchFamily="34" charset="0"/>
              <a:ea typeface="ui-sans-serif" pitchFamily="34" charset="-122"/>
              <a:cs typeface="ui-sans-serif" pitchFamily="34" charset="-120"/>
            </a:endParaRPr>
          </a:p>
          <a:p>
            <a:pPr>
              <a:lnSpc>
                <a:spcPts val="1404"/>
              </a:lnSpc>
            </a:pPr>
            <a:endParaRPr lang="en-US" sz="936" dirty="0"/>
          </a:p>
          <a:p>
            <a:pPr marL="0" indent="0">
              <a:lnSpc>
                <a:spcPts val="1404"/>
              </a:lnSpc>
              <a:buNone/>
            </a:pPr>
            <a:endParaRPr lang="en-US" sz="936" dirty="0"/>
          </a:p>
        </p:txBody>
      </p:sp>
      <p:sp>
        <p:nvSpPr>
          <p:cNvPr id="20" name="Text 18"/>
          <p:cNvSpPr/>
          <p:nvPr/>
        </p:nvSpPr>
        <p:spPr>
          <a:xfrm>
            <a:off x="609600" y="3980408"/>
            <a:ext cx="3733800" cy="356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4"/>
              </a:lnSpc>
              <a:buNone/>
            </a:pPr>
            <a:endParaRPr lang="en-US" sz="936" dirty="0"/>
          </a:p>
        </p:txBody>
      </p:sp>
      <p:sp>
        <p:nvSpPr>
          <p:cNvPr id="21" name="Text 19"/>
          <p:cNvSpPr/>
          <p:nvPr/>
        </p:nvSpPr>
        <p:spPr>
          <a:xfrm>
            <a:off x="609600" y="4397871"/>
            <a:ext cx="3733800" cy="356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4"/>
              </a:lnSpc>
              <a:buNone/>
            </a:pPr>
            <a:endParaRPr lang="en-US" sz="936" dirty="0"/>
          </a:p>
        </p:txBody>
      </p:sp>
      <p:sp>
        <p:nvSpPr>
          <p:cNvPr id="22" name="Text 20"/>
          <p:cNvSpPr/>
          <p:nvPr/>
        </p:nvSpPr>
        <p:spPr>
          <a:xfrm>
            <a:off x="609600" y="4815334"/>
            <a:ext cx="3733800" cy="356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4"/>
              </a:lnSpc>
              <a:buNone/>
            </a:pPr>
            <a:endParaRPr lang="en-US" sz="936" dirty="0"/>
          </a:p>
        </p:txBody>
      </p:sp>
      <p:sp>
        <p:nvSpPr>
          <p:cNvPr id="23" name="Text 21"/>
          <p:cNvSpPr/>
          <p:nvPr/>
        </p:nvSpPr>
        <p:spPr>
          <a:xfrm>
            <a:off x="4819890" y="3117193"/>
            <a:ext cx="3779329" cy="1644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96"/>
              </a:lnSpc>
              <a:buNone/>
            </a:pPr>
            <a:r>
              <a:rPr lang="en-US" sz="864" b="1" dirty="0">
                <a:solidFill>
                  <a:srgbClr val="4ADE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🟢 Strategic (180+ days)</a:t>
            </a:r>
            <a:endParaRPr lang="en-US" sz="864" dirty="0"/>
          </a:p>
        </p:txBody>
      </p:sp>
      <p:sp>
        <p:nvSpPr>
          <p:cNvPr id="24" name="Text 22"/>
          <p:cNvSpPr/>
          <p:nvPr/>
        </p:nvSpPr>
        <p:spPr>
          <a:xfrm>
            <a:off x="4792122" y="3385553"/>
            <a:ext cx="3705225" cy="1587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4"/>
              </a:lnSpc>
              <a:buNone/>
            </a:pPr>
            <a:r>
              <a:rPr lang="en-US" sz="936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• Set up </a:t>
            </a:r>
            <a:r>
              <a:rPr lang="en-US" sz="936" b="1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Skincare quality taskforce</a:t>
            </a:r>
            <a:r>
              <a:rPr lang="en-US" sz="936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— 93.39 total defects, systemic issue</a:t>
            </a:r>
          </a:p>
          <a:p>
            <a:pPr marL="0" indent="0">
              <a:lnSpc>
                <a:spcPts val="1404"/>
              </a:lnSpc>
              <a:buNone/>
            </a:pPr>
            <a:endParaRPr lang="en-US" sz="936" dirty="0">
              <a:solidFill>
                <a:srgbClr val="E6EDF3"/>
              </a:solidFill>
              <a:latin typeface="ui-sans-serif" pitchFamily="34" charset="0"/>
              <a:ea typeface="ui-sans-serif" pitchFamily="34" charset="-122"/>
            </a:endParaRPr>
          </a:p>
          <a:p>
            <a:pPr>
              <a:lnSpc>
                <a:spcPts val="1404"/>
              </a:lnSpc>
            </a:pPr>
            <a:r>
              <a:rPr lang="en-US" sz="936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• Build </a:t>
            </a:r>
            <a:r>
              <a:rPr lang="en-US" sz="936" b="1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Mumbai/Bangalore-centric</a:t>
            </a:r>
            <a:r>
              <a:rPr lang="en-US" sz="936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operations hub — cost efficiency leaders</a:t>
            </a:r>
          </a:p>
          <a:p>
            <a:pPr>
              <a:lnSpc>
                <a:spcPts val="1404"/>
              </a:lnSpc>
            </a:pPr>
            <a:endParaRPr lang="en-US" sz="936" dirty="0">
              <a:solidFill>
                <a:srgbClr val="E6EDF3"/>
              </a:solidFill>
              <a:latin typeface="ui-sans-serif" pitchFamily="34" charset="0"/>
              <a:ea typeface="ui-sans-serif" pitchFamily="34" charset="-122"/>
            </a:endParaRPr>
          </a:p>
          <a:p>
            <a:pPr>
              <a:lnSpc>
                <a:spcPts val="1404"/>
              </a:lnSpc>
            </a:pPr>
            <a:r>
              <a:rPr lang="en-US" sz="936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• Target </a:t>
            </a:r>
            <a:r>
              <a:rPr lang="en-US" sz="936" b="1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Non-binary &amp; Unknown demographics</a:t>
            </a:r>
            <a:r>
              <a:rPr lang="en-US" sz="936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— under-served customer segments</a:t>
            </a:r>
          </a:p>
          <a:p>
            <a:pPr>
              <a:lnSpc>
                <a:spcPts val="1404"/>
              </a:lnSpc>
            </a:pPr>
            <a:endParaRPr lang="en-US" sz="936" dirty="0"/>
          </a:p>
          <a:p>
            <a:pPr>
              <a:lnSpc>
                <a:spcPts val="1404"/>
              </a:lnSpc>
            </a:pPr>
            <a:r>
              <a:rPr lang="en-US" sz="936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• Unlock </a:t>
            </a:r>
            <a:r>
              <a:rPr lang="en-US" sz="936" b="1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₹26.31K revenue uplift</a:t>
            </a:r>
            <a:r>
              <a:rPr lang="en-US" sz="936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via systematic defect elimination</a:t>
            </a:r>
            <a:endParaRPr lang="en-US" sz="936" dirty="0"/>
          </a:p>
          <a:p>
            <a:pPr>
              <a:lnSpc>
                <a:spcPts val="1404"/>
              </a:lnSpc>
            </a:pPr>
            <a:endParaRPr lang="en-US" sz="936" dirty="0"/>
          </a:p>
          <a:p>
            <a:pPr>
              <a:lnSpc>
                <a:spcPts val="1404"/>
              </a:lnSpc>
            </a:pPr>
            <a:endParaRPr lang="en-US" sz="936" dirty="0"/>
          </a:p>
          <a:p>
            <a:pPr marL="0" indent="0">
              <a:lnSpc>
                <a:spcPts val="1404"/>
              </a:lnSpc>
              <a:buNone/>
            </a:pPr>
            <a:endParaRPr lang="en-US" sz="936" dirty="0"/>
          </a:p>
        </p:txBody>
      </p:sp>
      <p:sp>
        <p:nvSpPr>
          <p:cNvPr id="25" name="Text 23"/>
          <p:cNvSpPr/>
          <p:nvPr/>
        </p:nvSpPr>
        <p:spPr>
          <a:xfrm>
            <a:off x="4829175" y="3980408"/>
            <a:ext cx="3705225" cy="356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4"/>
              </a:lnSpc>
              <a:buNone/>
            </a:pPr>
            <a:endParaRPr lang="en-US" sz="936" dirty="0"/>
          </a:p>
        </p:txBody>
      </p:sp>
      <p:sp>
        <p:nvSpPr>
          <p:cNvPr id="26" name="Text 24"/>
          <p:cNvSpPr/>
          <p:nvPr/>
        </p:nvSpPr>
        <p:spPr>
          <a:xfrm>
            <a:off x="4829175" y="4397871"/>
            <a:ext cx="3705225" cy="356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4"/>
              </a:lnSpc>
              <a:buNone/>
            </a:pPr>
            <a:endParaRPr lang="en-US" sz="936" dirty="0"/>
          </a:p>
        </p:txBody>
      </p:sp>
      <p:sp>
        <p:nvSpPr>
          <p:cNvPr id="27" name="Text 25"/>
          <p:cNvSpPr/>
          <p:nvPr/>
        </p:nvSpPr>
        <p:spPr>
          <a:xfrm>
            <a:off x="4829175" y="4815334"/>
            <a:ext cx="3705225" cy="356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4"/>
              </a:lnSpc>
              <a:buNone/>
            </a:pPr>
            <a:endParaRPr lang="en-US" sz="936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65227"/>
            <a:ext cx="2641550" cy="1449437"/>
          </a:xfrm>
          <a:prstGeom prst="roundRect">
            <a:avLst>
              <a:gd name="adj" fmla="val 75704"/>
            </a:avLst>
          </a:prstGeom>
          <a:solidFill>
            <a:srgbClr val="1A1A2E">
              <a:alpha val="80000"/>
            </a:srgbClr>
          </a:solidFill>
          <a:ln w="6350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251150" y="2765227"/>
            <a:ext cx="2641550" cy="1449437"/>
          </a:xfrm>
          <a:prstGeom prst="roundRect">
            <a:avLst>
              <a:gd name="adj" fmla="val 75704"/>
            </a:avLst>
          </a:prstGeom>
          <a:solidFill>
            <a:srgbClr val="1A1A2E">
              <a:alpha val="80000"/>
            </a:srgbClr>
          </a:solidFill>
          <a:ln w="6350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45101" y="2765227"/>
            <a:ext cx="2641699" cy="1449437"/>
          </a:xfrm>
          <a:prstGeom prst="roundRect">
            <a:avLst>
              <a:gd name="adj" fmla="val 75704"/>
            </a:avLst>
          </a:prstGeom>
          <a:solidFill>
            <a:srgbClr val="1A1A2E">
              <a:alpha val="80000"/>
            </a:srgbClr>
          </a:solidFill>
          <a:ln w="6350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74904" y="517327"/>
            <a:ext cx="839419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000"/>
              </a:lnSpc>
              <a:buNone/>
            </a:pPr>
            <a:r>
              <a:rPr lang="en-US" sz="6000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🎯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292608" y="1641277"/>
            <a:ext cx="8394192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6300"/>
              </a:lnSpc>
              <a:buNone/>
            </a:pPr>
            <a:r>
              <a:rPr lang="en-US" sz="4200" b="1" dirty="0">
                <a:solidFill>
                  <a:srgbClr val="E6EDF3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Key Takeaways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609600" y="2917627"/>
            <a:ext cx="238348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800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⚠️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09600" y="3321397"/>
            <a:ext cx="2383485" cy="187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476"/>
              </a:lnSpc>
            </a:pPr>
            <a:r>
              <a:rPr lang="en-US" sz="800" b="1" dirty="0">
                <a:solidFill>
                  <a:srgbClr val="F8717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Lead-time risk is uneven and could disrupt fulfillment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06294" y="3554611"/>
            <a:ext cx="2240055" cy="5076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>
              <a:lnSpc>
                <a:spcPts val="1332"/>
              </a:lnSpc>
            </a:pPr>
            <a:r>
              <a:rPr lang="en-US" sz="800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Lead-time risk is uneven across suppliers and routes, which can cause inconsistent delivery delays and make fulfillment harder to predict.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403550" y="2917627"/>
            <a:ext cx="238348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800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📍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403550" y="3321397"/>
            <a:ext cx="2383485" cy="187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6"/>
              </a:lnSpc>
              <a:buNone/>
            </a:pPr>
            <a:r>
              <a:rPr lang="en-US" sz="984" b="1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Location Matters</a:t>
            </a:r>
            <a:endParaRPr lang="en-US" sz="984" dirty="0"/>
          </a:p>
        </p:txBody>
      </p:sp>
      <p:sp>
        <p:nvSpPr>
          <p:cNvPr id="12" name="Text 10"/>
          <p:cNvSpPr/>
          <p:nvPr/>
        </p:nvSpPr>
        <p:spPr>
          <a:xfrm>
            <a:off x="3455800" y="3554611"/>
            <a:ext cx="2284499" cy="5076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32"/>
              </a:lnSpc>
              <a:buNone/>
            </a:pPr>
            <a:r>
              <a:rPr lang="en-US" sz="888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Chennai costs 54% more per unit than Mumbai. Shift operations west for cost efficiency.</a:t>
            </a:r>
            <a:endParaRPr lang="en-US" sz="888" dirty="0"/>
          </a:p>
        </p:txBody>
      </p:sp>
      <p:sp>
        <p:nvSpPr>
          <p:cNvPr id="13" name="Text 11"/>
          <p:cNvSpPr/>
          <p:nvPr/>
        </p:nvSpPr>
        <p:spPr>
          <a:xfrm>
            <a:off x="6197501" y="2917627"/>
            <a:ext cx="238363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800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💰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197501" y="3321397"/>
            <a:ext cx="2383637" cy="187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6"/>
              </a:lnSpc>
              <a:buNone/>
            </a:pPr>
            <a:r>
              <a:rPr lang="en-US" sz="984" b="1" dirty="0">
                <a:solidFill>
                  <a:srgbClr val="4ADE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Revenue Uplift Potential</a:t>
            </a:r>
            <a:endParaRPr lang="en-US" sz="984" dirty="0"/>
          </a:p>
        </p:txBody>
      </p:sp>
      <p:sp>
        <p:nvSpPr>
          <p:cNvPr id="15" name="Text 13"/>
          <p:cNvSpPr/>
          <p:nvPr/>
        </p:nvSpPr>
        <p:spPr>
          <a:xfrm>
            <a:off x="6197501" y="3554611"/>
            <a:ext cx="2336899" cy="5076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32"/>
              </a:lnSpc>
              <a:buNone/>
            </a:pPr>
            <a:r>
              <a:rPr lang="en-US" sz="888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₹26.31K revenue uplift is available through defect improvement alone — low-hanging fruit.</a:t>
            </a:r>
            <a:endParaRPr lang="en-US" sz="888" dirty="0"/>
          </a:p>
        </p:txBody>
      </p:sp>
      <p:sp>
        <p:nvSpPr>
          <p:cNvPr id="16" name="Text 14"/>
          <p:cNvSpPr/>
          <p:nvPr/>
        </p:nvSpPr>
        <p:spPr>
          <a:xfrm>
            <a:off x="374904" y="4443264"/>
            <a:ext cx="8394192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40"/>
              </a:lnSpc>
              <a:buNone/>
            </a:pPr>
            <a:r>
              <a:rPr lang="en-US" sz="960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Supply Chain Analysis </a:t>
            </a:r>
            <a:endParaRPr lang="en-US" sz="96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2B17DEB-6A66-F56B-919F-B82985B640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>
            <a:extLst>
              <a:ext uri="{FF2B5EF4-FFF2-40B4-BE49-F238E27FC236}">
                <a16:creationId xmlns:a16="http://schemas.microsoft.com/office/drawing/2014/main" id="{B9B2E433-B437-3A48-BD8E-807A68D37602}"/>
              </a:ext>
            </a:extLst>
          </p:cNvPr>
          <p:cNvSpPr/>
          <p:nvPr/>
        </p:nvSpPr>
        <p:spPr>
          <a:xfrm>
            <a:off x="292608" y="1641277"/>
            <a:ext cx="8394192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6300"/>
              </a:lnSpc>
              <a:buNone/>
            </a:pPr>
            <a:r>
              <a:rPr lang="en-US" sz="4200" b="1" dirty="0">
                <a:solidFill>
                  <a:srgbClr val="E6EDF3"/>
                </a:solidFill>
                <a:latin typeface="DM Serif Display" pitchFamily="34" charset="0"/>
              </a:rPr>
              <a:t>Thank You </a:t>
            </a:r>
            <a:endParaRPr lang="en-US" sz="42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3A6BC07A-B526-76F5-A515-58F28186CCF1}"/>
              </a:ext>
            </a:extLst>
          </p:cNvPr>
          <p:cNvSpPr/>
          <p:nvPr/>
        </p:nvSpPr>
        <p:spPr>
          <a:xfrm>
            <a:off x="609600" y="2917627"/>
            <a:ext cx="238348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endParaRPr lang="en-US" sz="18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ABC40621-1B02-28D6-8519-0722A8AF62A3}"/>
              </a:ext>
            </a:extLst>
          </p:cNvPr>
          <p:cNvSpPr/>
          <p:nvPr/>
        </p:nvSpPr>
        <p:spPr>
          <a:xfrm>
            <a:off x="374904" y="4443264"/>
            <a:ext cx="8394192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40"/>
              </a:lnSpc>
              <a:buNone/>
            </a:pPr>
            <a:r>
              <a:rPr lang="en-US" sz="960" dirty="0">
                <a:solidFill>
                  <a:srgbClr val="E6EDF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Supply Chain Analysis </a:t>
            </a:r>
            <a:endParaRPr lang="en-US" sz="960" dirty="0"/>
          </a:p>
        </p:txBody>
      </p:sp>
    </p:spTree>
    <p:extLst>
      <p:ext uri="{BB962C8B-B14F-4D97-AF65-F5344CB8AC3E}">
        <p14:creationId xmlns:p14="http://schemas.microsoft.com/office/powerpoint/2010/main" val="12481384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495</TotalTime>
  <Words>1083</Words>
  <Application>Microsoft Office PowerPoint</Application>
  <PresentationFormat>On-screen Show (16:9)</PresentationFormat>
  <Paragraphs>262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DM Serif Display</vt:lpstr>
      <vt:lpstr>ui-sans-serif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Purna sai Badminton</cp:lastModifiedBy>
  <cp:revision>44</cp:revision>
  <dcterms:created xsi:type="dcterms:W3CDTF">2026-04-09T10:22:11Z</dcterms:created>
  <dcterms:modified xsi:type="dcterms:W3CDTF">2026-04-10T09:53:54Z</dcterms:modified>
</cp:coreProperties>
</file>